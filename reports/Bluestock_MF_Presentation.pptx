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1C3B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2342B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1C3B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rgbClr val="2342B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1C3B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500" b="0" i="0">
                <a:solidFill>
                  <a:srgbClr val="1C3B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994247" y="11198611"/>
            <a:ext cx="3110230" cy="55244"/>
          </a:xfrm>
          <a:custGeom>
            <a:avLst/>
            <a:gdLst/>
            <a:ahLst/>
            <a:cxnLst/>
            <a:rect l="l" t="t" r="r" b="b"/>
            <a:pathLst>
              <a:path w="3110230" h="55245">
                <a:moveTo>
                  <a:pt x="3109853" y="54972"/>
                </a:moveTo>
                <a:lnTo>
                  <a:pt x="0" y="54972"/>
                </a:lnTo>
                <a:lnTo>
                  <a:pt x="0" y="0"/>
                </a:lnTo>
                <a:lnTo>
                  <a:pt x="3109853" y="0"/>
                </a:lnTo>
                <a:lnTo>
                  <a:pt x="3109853" y="54972"/>
                </a:lnTo>
                <a:close/>
              </a:path>
            </a:pathLst>
          </a:custGeom>
          <a:solidFill>
            <a:srgbClr val="1C38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4031" y="827588"/>
            <a:ext cx="18396036" cy="20499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0" b="0" i="0">
                <a:solidFill>
                  <a:srgbClr val="1C3B7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411597" y="4371983"/>
            <a:ext cx="8375015" cy="36899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rgbClr val="2342BA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hyperlink" Target="https://static.vecteezy.com/system/resources/previews/0&#243;8/&#243;3&#243;/574/non" TargetMode="External"/><Relationship Id="rId5" Type="http://schemas.openxmlformats.org/officeDocument/2006/relationships/hyperlink" Target="http://www.vecteezy.com/" TargetMode="External"/><Relationship Id="rId6" Type="http://schemas.openxmlformats.org/officeDocument/2006/relationships/hyperlink" Target="https://cdn.prod.website-files.com/&#243;&#243;e5b5Oec3880ff24ac7aOa&#243;/&#243;73b5a833fdeoc9d149" TargetMode="External"/><Relationship Id="rId7" Type="http://schemas.openxmlformats.org/officeDocument/2006/relationships/hyperlink" Target="http://www.fundmarketers.com/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82248" y="2883808"/>
            <a:ext cx="5904865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65">
                <a:solidFill>
                  <a:srgbClr val="1A3F8A"/>
                </a:solidFill>
                <a:latin typeface="Calibri"/>
                <a:cs typeface="Calibri"/>
              </a:rPr>
              <a:t>BLUESTOCK</a:t>
            </a:r>
            <a:r>
              <a:rPr dirty="0" sz="3350" spc="105">
                <a:solidFill>
                  <a:srgbClr val="1A3F8A"/>
                </a:solidFill>
                <a:latin typeface="Calibri"/>
                <a:cs typeface="Calibri"/>
              </a:rPr>
              <a:t> </a:t>
            </a:r>
            <a:r>
              <a:rPr dirty="0" sz="3350" spc="85">
                <a:solidFill>
                  <a:srgbClr val="0F3485"/>
                </a:solidFill>
                <a:latin typeface="Calibri"/>
                <a:cs typeface="Calibri"/>
              </a:rPr>
              <a:t>CAPSTONE</a:t>
            </a:r>
            <a:r>
              <a:rPr dirty="0" sz="3350" spc="25">
                <a:solidFill>
                  <a:srgbClr val="0F3485"/>
                </a:solidFill>
                <a:latin typeface="Calibri"/>
                <a:cs typeface="Calibri"/>
              </a:rPr>
              <a:t> </a:t>
            </a:r>
            <a:r>
              <a:rPr dirty="0" sz="3350" spc="85">
                <a:solidFill>
                  <a:srgbClr val="23419E"/>
                </a:solidFill>
                <a:latin typeface="Calibri"/>
                <a:cs typeface="Calibri"/>
              </a:rPr>
              <a:t>PROJECT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030024" y="3721479"/>
            <a:ext cx="13385800" cy="13214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0" spc="145">
                <a:solidFill>
                  <a:srgbClr val="1D3B8A"/>
                </a:solidFill>
              </a:rPr>
              <a:t>MUTUAL</a:t>
            </a:r>
            <a:r>
              <a:rPr dirty="0" sz="8500" spc="625">
                <a:solidFill>
                  <a:srgbClr val="1D3B8A"/>
                </a:solidFill>
              </a:rPr>
              <a:t> </a:t>
            </a:r>
            <a:r>
              <a:rPr dirty="0" sz="8500" spc="295">
                <a:solidFill>
                  <a:srgbClr val="21388E"/>
                </a:solidFill>
              </a:rPr>
              <a:t>FUND</a:t>
            </a:r>
            <a:r>
              <a:rPr dirty="0" sz="8500" spc="450">
                <a:solidFill>
                  <a:srgbClr val="21388E"/>
                </a:solidFill>
              </a:rPr>
              <a:t> </a:t>
            </a:r>
            <a:r>
              <a:rPr dirty="0" sz="8500" spc="505">
                <a:solidFill>
                  <a:srgbClr val="1F3B85"/>
                </a:solidFill>
              </a:rPr>
              <a:t>ANALYTICS</a:t>
            </a:r>
            <a:r>
              <a:rPr dirty="0" sz="8500" spc="505">
                <a:solidFill>
                  <a:srgbClr val="1C3B85"/>
                </a:solidFill>
              </a:rPr>
              <a:t>6</a:t>
            </a:r>
            <a:endParaRPr sz="8500"/>
          </a:p>
        </p:txBody>
      </p:sp>
      <p:sp>
        <p:nvSpPr>
          <p:cNvPr id="4" name="object 4"/>
          <p:cNvSpPr txBox="1"/>
          <p:nvPr/>
        </p:nvSpPr>
        <p:spPr>
          <a:xfrm>
            <a:off x="3992233" y="5184131"/>
            <a:ext cx="11963400" cy="12623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100" spc="610">
                <a:solidFill>
                  <a:srgbClr val="21388E"/>
                </a:solidFill>
                <a:latin typeface="Calibri"/>
                <a:cs typeface="Calibri"/>
              </a:rPr>
              <a:t>INVESTOR</a:t>
            </a:r>
            <a:r>
              <a:rPr dirty="0" sz="8100" spc="765">
                <a:solidFill>
                  <a:srgbClr val="21388E"/>
                </a:solidFill>
                <a:latin typeface="Calibri"/>
                <a:cs typeface="Calibri"/>
              </a:rPr>
              <a:t> </a:t>
            </a:r>
            <a:r>
              <a:rPr dirty="0" sz="8100" spc="525">
                <a:solidFill>
                  <a:srgbClr val="1D3B8A"/>
                </a:solidFill>
                <a:latin typeface="Calibri"/>
                <a:cs typeface="Calibri"/>
              </a:rPr>
              <a:t>INTELLIGENCE</a:t>
            </a:r>
            <a:endParaRPr sz="8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93080" y="7396760"/>
            <a:ext cx="4237355" cy="10420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70">
                <a:solidFill>
                  <a:srgbClr val="343434"/>
                </a:solidFill>
                <a:latin typeface="Calibri"/>
                <a:cs typeface="Calibri"/>
              </a:rPr>
              <a:t>Shivam</a:t>
            </a:r>
            <a:r>
              <a:rPr dirty="0" sz="2300" spc="-4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300" spc="80">
                <a:solidFill>
                  <a:srgbClr val="2A3F59"/>
                </a:solidFill>
                <a:latin typeface="Calibri"/>
                <a:cs typeface="Calibri"/>
              </a:rPr>
              <a:t>Kumar</a:t>
            </a:r>
            <a:r>
              <a:rPr dirty="0" sz="2300" spc="-60">
                <a:solidFill>
                  <a:srgbClr val="2A3F59"/>
                </a:solidFill>
                <a:latin typeface="Calibri"/>
                <a:cs typeface="Calibri"/>
              </a:rPr>
              <a:t> </a:t>
            </a:r>
            <a:r>
              <a:rPr dirty="0" sz="2300">
                <a:solidFill>
                  <a:srgbClr val="3D3D3D"/>
                </a:solidFill>
                <a:latin typeface="Calibri"/>
                <a:cs typeface="Calibri"/>
              </a:rPr>
              <a:t>Mehta</a:t>
            </a:r>
            <a:r>
              <a:rPr dirty="0" sz="2300">
                <a:solidFill>
                  <a:srgbClr val="66809E"/>
                </a:solidFill>
                <a:latin typeface="Calibri"/>
                <a:cs typeface="Calibri"/>
              </a:rPr>
              <a:t>|</a:t>
            </a:r>
            <a:r>
              <a:rPr dirty="0" sz="2300">
                <a:solidFill>
                  <a:srgbClr val="313131"/>
                </a:solidFill>
                <a:latin typeface="Calibri"/>
                <a:cs typeface="Calibri"/>
              </a:rPr>
              <a:t>B.Tech,</a:t>
            </a:r>
            <a:r>
              <a:rPr dirty="0" sz="2300" spc="10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300" spc="-25">
                <a:solidFill>
                  <a:srgbClr val="363636"/>
                </a:solidFill>
                <a:latin typeface="Calibri"/>
                <a:cs typeface="Calibri"/>
              </a:rPr>
              <a:t>LPU</a:t>
            </a:r>
            <a:endParaRPr sz="2300">
              <a:latin typeface="Calibri"/>
              <a:cs typeface="Calibri"/>
            </a:endParaRPr>
          </a:p>
          <a:p>
            <a:pPr marL="247650">
              <a:lnSpc>
                <a:spcPct val="100000"/>
              </a:lnSpc>
              <a:spcBef>
                <a:spcPts val="2285"/>
              </a:spcBef>
            </a:pPr>
            <a:r>
              <a:rPr dirty="0" sz="2450" spc="-35">
                <a:solidFill>
                  <a:srgbClr val="707070"/>
                </a:solidFill>
                <a:latin typeface="Calibri"/>
                <a:cs typeface="Calibri"/>
              </a:rPr>
              <a:t>Submission</a:t>
            </a:r>
            <a:r>
              <a:rPr dirty="0" sz="2450" spc="-80">
                <a:solidFill>
                  <a:srgbClr val="707070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5B5B5B"/>
                </a:solidFill>
                <a:latin typeface="Calibri"/>
                <a:cs typeface="Calibri"/>
              </a:rPr>
              <a:t>Date:</a:t>
            </a:r>
            <a:r>
              <a:rPr dirty="0" sz="2450" spc="-65">
                <a:solidFill>
                  <a:srgbClr val="5B5B5B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6E6E6E"/>
                </a:solidFill>
                <a:latin typeface="Calibri"/>
                <a:cs typeface="Calibri"/>
              </a:rPr>
              <a:t>12</a:t>
            </a:r>
            <a:r>
              <a:rPr dirty="0" sz="2450" spc="-150">
                <a:solidFill>
                  <a:srgbClr val="6E6E6E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696969"/>
                </a:solidFill>
                <a:latin typeface="Calibri"/>
                <a:cs typeface="Calibri"/>
              </a:rPr>
              <a:t>June</a:t>
            </a:r>
            <a:r>
              <a:rPr dirty="0" sz="2450" spc="-150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676767"/>
                </a:solidFill>
                <a:latin typeface="Calibri"/>
                <a:cs typeface="Calibri"/>
              </a:rPr>
              <a:t>2026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4708" y="3957994"/>
            <a:ext cx="8717012" cy="49631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6994247" y="11198611"/>
            <a:ext cx="3110230" cy="55244"/>
          </a:xfrm>
          <a:custGeom>
            <a:avLst/>
            <a:gdLst/>
            <a:ahLst/>
            <a:cxnLst/>
            <a:rect l="l" t="t" r="r" b="b"/>
            <a:pathLst>
              <a:path w="3110230" h="55245">
                <a:moveTo>
                  <a:pt x="3109853" y="54972"/>
                </a:moveTo>
                <a:lnTo>
                  <a:pt x="0" y="54972"/>
                </a:lnTo>
                <a:lnTo>
                  <a:pt x="0" y="0"/>
                </a:lnTo>
                <a:lnTo>
                  <a:pt x="3109853" y="0"/>
                </a:lnTo>
                <a:lnTo>
                  <a:pt x="3109853" y="54972"/>
                </a:lnTo>
                <a:close/>
              </a:path>
            </a:pathLst>
          </a:custGeom>
          <a:solidFill>
            <a:srgbClr val="1C38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569595">
              <a:lnSpc>
                <a:spcPct val="100000"/>
              </a:lnSpc>
              <a:spcBef>
                <a:spcPts val="105"/>
              </a:spcBef>
            </a:pPr>
            <a:r>
              <a:rPr dirty="0" sz="6050" spc="-10">
                <a:solidFill>
                  <a:srgbClr val="1D3A8C"/>
                </a:solidFill>
              </a:rPr>
              <a:t>The</a:t>
            </a:r>
            <a:r>
              <a:rPr dirty="0" sz="6050" spc="-405">
                <a:solidFill>
                  <a:srgbClr val="1D3A8C"/>
                </a:solidFill>
              </a:rPr>
              <a:t> </a:t>
            </a:r>
            <a:r>
              <a:rPr dirty="0" sz="6050" spc="120">
                <a:solidFill>
                  <a:srgbClr val="1A3B89"/>
                </a:solidFill>
              </a:rPr>
              <a:t>Challenge:</a:t>
            </a:r>
            <a:r>
              <a:rPr dirty="0" sz="6050" spc="-260">
                <a:solidFill>
                  <a:srgbClr val="1A3B89"/>
                </a:solidFill>
              </a:rPr>
              <a:t> </a:t>
            </a:r>
            <a:r>
              <a:rPr dirty="0" sz="6050" spc="200">
                <a:solidFill>
                  <a:srgbClr val="1F3A83"/>
                </a:solidFill>
              </a:rPr>
              <a:t>Data</a:t>
            </a:r>
            <a:r>
              <a:rPr dirty="0" sz="6050" spc="-505">
                <a:solidFill>
                  <a:srgbClr val="1F3A83"/>
                </a:solidFill>
              </a:rPr>
              <a:t> </a:t>
            </a:r>
            <a:r>
              <a:rPr dirty="0" sz="6050" spc="120">
                <a:solidFill>
                  <a:srgbClr val="213B8A"/>
                </a:solidFill>
              </a:rPr>
              <a:t>Complexity</a:t>
            </a:r>
            <a:endParaRPr sz="6050"/>
          </a:p>
        </p:txBody>
      </p:sp>
      <p:sp>
        <p:nvSpPr>
          <p:cNvPr id="5" name="object 5"/>
          <p:cNvSpPr txBox="1"/>
          <p:nvPr/>
        </p:nvSpPr>
        <p:spPr>
          <a:xfrm>
            <a:off x="1547532" y="4753516"/>
            <a:ext cx="7821295" cy="319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240" marR="108585" indent="-3175">
              <a:lnSpc>
                <a:spcPct val="113599"/>
              </a:lnSpc>
              <a:spcBef>
                <a:spcPts val="100"/>
              </a:spcBef>
            </a:pPr>
            <a:r>
              <a:rPr dirty="0" sz="2450">
                <a:solidFill>
                  <a:srgbClr val="3B3B3B"/>
                </a:solidFill>
                <a:latin typeface="Calibri"/>
                <a:cs typeface="Calibri"/>
              </a:rPr>
              <a:t>Data</a:t>
            </a:r>
            <a:r>
              <a:rPr dirty="0" sz="2450" spc="-27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83838"/>
                </a:solidFill>
                <a:latin typeface="Calibri"/>
                <a:cs typeface="Calibri"/>
              </a:rPr>
              <a:t>Fragmentation:</a:t>
            </a:r>
            <a:r>
              <a:rPr dirty="0" sz="2450" spc="-19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64857"/>
                </a:solidFill>
                <a:latin typeface="Calibri"/>
                <a:cs typeface="Calibri"/>
              </a:rPr>
              <a:t>Raw</a:t>
            </a:r>
            <a:r>
              <a:rPr dirty="0" sz="2450" spc="-180">
                <a:solidFill>
                  <a:srgbClr val="364857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383838"/>
                </a:solidFill>
                <a:latin typeface="Calibri"/>
                <a:cs typeface="Calibri"/>
              </a:rPr>
              <a:t>financial</a:t>
            </a:r>
            <a:r>
              <a:rPr dirty="0" sz="2450" spc="8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63636"/>
                </a:solidFill>
                <a:latin typeface="Calibri"/>
                <a:cs typeface="Calibri"/>
              </a:rPr>
              <a:t>data</a:t>
            </a:r>
            <a:r>
              <a:rPr dirty="0" sz="2450" spc="-18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1C1C1C"/>
                </a:solidFill>
                <a:latin typeface="Calibri"/>
                <a:cs typeface="Calibri"/>
              </a:rPr>
              <a:t>exists</a:t>
            </a:r>
            <a:r>
              <a:rPr dirty="0" sz="2450" spc="-10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1425B"/>
                </a:solidFill>
                <a:latin typeface="Calibri"/>
                <a:cs typeface="Calibri"/>
              </a:rPr>
              <a:t>in</a:t>
            </a:r>
            <a:r>
              <a:rPr dirty="0" sz="2450" spc="-240">
                <a:solidFill>
                  <a:srgbClr val="31425B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2F2F2F"/>
                </a:solidFill>
                <a:latin typeface="Calibri"/>
                <a:cs typeface="Calibri"/>
              </a:rPr>
              <a:t>disparate</a:t>
            </a:r>
            <a:r>
              <a:rPr dirty="0" sz="2450" spc="-9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63636"/>
                </a:solidFill>
                <a:latin typeface="Calibri"/>
                <a:cs typeface="Calibri"/>
              </a:rPr>
              <a:t>silos </a:t>
            </a:r>
            <a:r>
              <a:rPr dirty="0" sz="2450" spc="-60">
                <a:solidFill>
                  <a:srgbClr val="2D2D2D"/>
                </a:solidFill>
                <a:latin typeface="Calibri"/>
                <a:cs typeface="Calibri"/>
              </a:rPr>
              <a:t>making</a:t>
            </a:r>
            <a:r>
              <a:rPr dirty="0" sz="2450" spc="-15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343434"/>
                </a:solidFill>
                <a:latin typeface="Calibri"/>
                <a:cs typeface="Calibri"/>
              </a:rPr>
              <a:t>performance</a:t>
            </a:r>
            <a:r>
              <a:rPr dirty="0" sz="245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2D2D2D"/>
                </a:solidFill>
                <a:latin typeface="Calibri"/>
                <a:cs typeface="Calibri"/>
              </a:rPr>
              <a:t>analysis</a:t>
            </a:r>
            <a:r>
              <a:rPr dirty="0" sz="2450" spc="-8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difficult.</a:t>
            </a:r>
            <a:endParaRPr sz="2450">
              <a:latin typeface="Calibri"/>
              <a:cs typeface="Calibri"/>
            </a:endParaRPr>
          </a:p>
          <a:p>
            <a:pPr marL="17145" marR="5080" indent="-1905">
              <a:lnSpc>
                <a:spcPct val="113599"/>
              </a:lnSpc>
              <a:spcBef>
                <a:spcPts val="2470"/>
              </a:spcBef>
            </a:pPr>
            <a:r>
              <a:rPr dirty="0" sz="2450" spc="-50">
                <a:solidFill>
                  <a:srgbClr val="383838"/>
                </a:solidFill>
                <a:latin typeface="Calibri"/>
                <a:cs typeface="Calibri"/>
              </a:rPr>
              <a:t>Opaque</a:t>
            </a:r>
            <a:r>
              <a:rPr dirty="0" sz="2450" spc="-1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43434"/>
                </a:solidFill>
                <a:latin typeface="Calibri"/>
                <a:cs typeface="Calibri"/>
              </a:rPr>
              <a:t>Behavior:</a:t>
            </a:r>
            <a:r>
              <a:rPr dirty="0" sz="2450" spc="-7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43434"/>
                </a:solidFill>
                <a:latin typeface="Calibri"/>
                <a:cs typeface="Calibri"/>
              </a:rPr>
              <a:t>Identifying</a:t>
            </a:r>
            <a:r>
              <a:rPr dirty="0" sz="2450" spc="-7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33333"/>
                </a:solidFill>
                <a:latin typeface="Calibri"/>
                <a:cs typeface="Calibri"/>
              </a:rPr>
              <a:t>retail</a:t>
            </a:r>
            <a:r>
              <a:rPr dirty="0" sz="245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83838"/>
                </a:solidFill>
                <a:latin typeface="Calibri"/>
                <a:cs typeface="Calibri"/>
              </a:rPr>
              <a:t>investor</a:t>
            </a:r>
            <a:r>
              <a:rPr dirty="0" sz="2450" spc="-9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83838"/>
                </a:solidFill>
                <a:latin typeface="Calibri"/>
                <a:cs typeface="Calibri"/>
              </a:rPr>
              <a:t>patterns</a:t>
            </a:r>
            <a:r>
              <a:rPr dirty="0" sz="2450" spc="1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363636"/>
                </a:solidFill>
                <a:latin typeface="Calibri"/>
                <a:cs typeface="Calibri"/>
              </a:rPr>
              <a:t>and</a:t>
            </a:r>
            <a:r>
              <a:rPr dirty="0" sz="2450" spc="-21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83838"/>
                </a:solidFill>
                <a:latin typeface="Calibri"/>
                <a:cs typeface="Calibri"/>
              </a:rPr>
              <a:t>churn </a:t>
            </a:r>
            <a:r>
              <a:rPr dirty="0" sz="2450" spc="-75">
                <a:solidFill>
                  <a:srgbClr val="313131"/>
                </a:solidFill>
                <a:latin typeface="Calibri"/>
                <a:cs typeface="Calibri"/>
              </a:rPr>
              <a:t>causes</a:t>
            </a:r>
            <a:r>
              <a:rPr dirty="0" sz="245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60">
                <a:solidFill>
                  <a:srgbClr val="333333"/>
                </a:solidFill>
                <a:latin typeface="Calibri"/>
                <a:cs typeface="Calibri"/>
              </a:rPr>
              <a:t>requires</a:t>
            </a:r>
            <a:r>
              <a:rPr dirty="0" sz="2450" spc="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100">
                <a:solidFill>
                  <a:srgbClr val="2D2D2D"/>
                </a:solidFill>
                <a:latin typeface="Calibri"/>
                <a:cs typeface="Calibri"/>
              </a:rPr>
              <a:t>deep</a:t>
            </a:r>
            <a:r>
              <a:rPr dirty="0" sz="2450" spc="-15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D2D2D"/>
                </a:solidFill>
                <a:latin typeface="Calibri"/>
                <a:cs typeface="Calibri"/>
              </a:rPr>
              <a:t>multi-</a:t>
            </a:r>
            <a:r>
              <a:rPr dirty="0" sz="2450" spc="-35">
                <a:solidFill>
                  <a:srgbClr val="2D2D2D"/>
                </a:solidFill>
                <a:latin typeface="Calibri"/>
                <a:cs typeface="Calibri"/>
              </a:rPr>
              <a:t>dimensional</a:t>
            </a:r>
            <a:r>
              <a:rPr dirty="0" sz="2450" spc="-13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D2D2D"/>
                </a:solidFill>
                <a:latin typeface="Calibri"/>
                <a:cs typeface="Calibri"/>
              </a:rPr>
              <a:t>analytics.</a:t>
            </a:r>
            <a:endParaRPr sz="2450">
              <a:latin typeface="Calibri"/>
              <a:cs typeface="Calibri"/>
            </a:endParaRPr>
          </a:p>
          <a:p>
            <a:pPr marL="14604" marR="381635" indent="5080">
              <a:lnSpc>
                <a:spcPct val="113599"/>
              </a:lnSpc>
              <a:spcBef>
                <a:spcPts val="2475"/>
              </a:spcBef>
            </a:pPr>
            <a:r>
              <a:rPr dirty="0" sz="2450">
                <a:solidFill>
                  <a:srgbClr val="34465B"/>
                </a:solidFill>
                <a:latin typeface="Calibri"/>
                <a:cs typeface="Calibri"/>
              </a:rPr>
              <a:t>SIP</a:t>
            </a:r>
            <a:r>
              <a:rPr dirty="0" sz="2450" spc="225">
                <a:solidFill>
                  <a:srgbClr val="34465B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13131"/>
                </a:solidFill>
                <a:latin typeface="Calibri"/>
                <a:cs typeface="Calibri"/>
              </a:rPr>
              <a:t>Continuity:</a:t>
            </a:r>
            <a:r>
              <a:rPr dirty="0" sz="2450" spc="-7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83838"/>
                </a:solidFill>
                <a:latin typeface="Calibri"/>
                <a:cs typeface="Calibri"/>
              </a:rPr>
              <a:t>High</a:t>
            </a:r>
            <a:r>
              <a:rPr dirty="0" sz="2450" spc="-2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1C1C1C"/>
                </a:solidFill>
                <a:latin typeface="Calibri"/>
                <a:cs typeface="Calibri"/>
              </a:rPr>
              <a:t>rates</a:t>
            </a:r>
            <a:r>
              <a:rPr dirty="0" sz="2450" spc="-85">
                <a:solidFill>
                  <a:srgbClr val="1C1C1C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3B3B3B"/>
                </a:solidFill>
                <a:latin typeface="Calibri"/>
                <a:cs typeface="Calibri"/>
              </a:rPr>
              <a:t>of</a:t>
            </a:r>
            <a:r>
              <a:rPr dirty="0" sz="2450" spc="-13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43434"/>
                </a:solidFill>
                <a:latin typeface="Calibri"/>
                <a:cs typeface="Calibri"/>
              </a:rPr>
              <a:t>SIP</a:t>
            </a:r>
            <a:r>
              <a:rPr dirty="0" sz="2450" spc="32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2F2F2F"/>
                </a:solidFill>
                <a:latin typeface="Calibri"/>
                <a:cs typeface="Calibri"/>
              </a:rPr>
              <a:t>attrition</a:t>
            </a:r>
            <a:r>
              <a:rPr dirty="0" sz="2450" spc="-13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2F2F2F"/>
                </a:solidFill>
                <a:latin typeface="Calibri"/>
                <a:cs typeface="Calibri"/>
              </a:rPr>
              <a:t>often</a:t>
            </a:r>
            <a:r>
              <a:rPr dirty="0" sz="2450" spc="-13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60">
                <a:solidFill>
                  <a:srgbClr val="363636"/>
                </a:solidFill>
                <a:latin typeface="Calibri"/>
                <a:cs typeface="Calibri"/>
              </a:rPr>
              <a:t>go</a:t>
            </a:r>
            <a:r>
              <a:rPr dirty="0" sz="2450" spc="-22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unnoticed </a:t>
            </a:r>
            <a:r>
              <a:rPr dirty="0" sz="2450" spc="-20">
                <a:solidFill>
                  <a:srgbClr val="343434"/>
                </a:solidFill>
                <a:latin typeface="Calibri"/>
                <a:cs typeface="Calibri"/>
              </a:rPr>
              <a:t>without</a:t>
            </a:r>
            <a:r>
              <a:rPr dirty="0" sz="2450" spc="-3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65">
                <a:solidFill>
                  <a:srgbClr val="2A4159"/>
                </a:solidFill>
                <a:latin typeface="Calibri"/>
                <a:cs typeface="Calibri"/>
              </a:rPr>
              <a:t>a</a:t>
            </a:r>
            <a:r>
              <a:rPr dirty="0" sz="2450" spc="-240">
                <a:solidFill>
                  <a:srgbClr val="2A4159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232323"/>
                </a:solidFill>
                <a:latin typeface="Calibri"/>
                <a:cs typeface="Calibri"/>
              </a:rPr>
              <a:t>structured</a:t>
            </a:r>
            <a:r>
              <a:rPr dirty="0" sz="2450" spc="-114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43434"/>
                </a:solidFill>
                <a:latin typeface="Calibri"/>
                <a:cs typeface="Calibri"/>
              </a:rPr>
              <a:t>intelligence</a:t>
            </a:r>
            <a:r>
              <a:rPr dirty="0" sz="2450" spc="-4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system.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71290" y="7272029"/>
            <a:ext cx="628253" cy="6282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926217" y="3266916"/>
            <a:ext cx="612546" cy="6596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26025" y="7272029"/>
            <a:ext cx="785316" cy="62825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643685" y="3266916"/>
            <a:ext cx="816729" cy="6596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533923" y="3298328"/>
            <a:ext cx="675372" cy="59684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6450" rIns="0" bIns="0" rtlCol="0" vert="horz">
            <a:spAutoFit/>
          </a:bodyPr>
          <a:lstStyle/>
          <a:p>
            <a:pPr marL="547370">
              <a:lnSpc>
                <a:spcPct val="100000"/>
              </a:lnSpc>
              <a:spcBef>
                <a:spcPts val="125"/>
              </a:spcBef>
            </a:pPr>
            <a:r>
              <a:rPr dirty="0" sz="5900" spc="165">
                <a:solidFill>
                  <a:srgbClr val="1D3B8A"/>
                </a:solidFill>
              </a:rPr>
              <a:t>Core</a:t>
            </a:r>
            <a:r>
              <a:rPr dirty="0" sz="5900" spc="-235">
                <a:solidFill>
                  <a:srgbClr val="1D3B8A"/>
                </a:solidFill>
              </a:rPr>
              <a:t> </a:t>
            </a:r>
            <a:r>
              <a:rPr dirty="0" sz="5900" spc="200">
                <a:solidFill>
                  <a:srgbClr val="1A3B8E"/>
                </a:solidFill>
              </a:rPr>
              <a:t>Strategic</a:t>
            </a:r>
            <a:r>
              <a:rPr dirty="0" sz="5900" spc="-105">
                <a:solidFill>
                  <a:srgbClr val="1A3B8E"/>
                </a:solidFill>
              </a:rPr>
              <a:t> </a:t>
            </a:r>
            <a:r>
              <a:rPr dirty="0" sz="5900" spc="135">
                <a:solidFill>
                  <a:srgbClr val="213889"/>
                </a:solidFill>
              </a:rPr>
              <a:t>Objectives</a:t>
            </a:r>
            <a:endParaRPr sz="5900"/>
          </a:p>
        </p:txBody>
      </p:sp>
      <p:sp>
        <p:nvSpPr>
          <p:cNvPr id="8" name="object 8"/>
          <p:cNvSpPr txBox="1"/>
          <p:nvPr/>
        </p:nvSpPr>
        <p:spPr>
          <a:xfrm>
            <a:off x="1330528" y="4136388"/>
            <a:ext cx="5044440" cy="1695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R="12065">
              <a:lnSpc>
                <a:spcPct val="100000"/>
              </a:lnSpc>
              <a:spcBef>
                <a:spcPts val="120"/>
              </a:spcBef>
            </a:pPr>
            <a:r>
              <a:rPr dirty="0" sz="4100" spc="180">
                <a:solidFill>
                  <a:srgbClr val="1C3BAC"/>
                </a:solidFill>
                <a:latin typeface="Calibri"/>
                <a:cs typeface="Calibri"/>
              </a:rPr>
              <a:t>Performance</a:t>
            </a:r>
            <a:endParaRPr sz="4100">
              <a:latin typeface="Calibri"/>
              <a:cs typeface="Calibri"/>
            </a:endParaRPr>
          </a:p>
          <a:p>
            <a:pPr algn="ctr" marL="12700" marR="5080" indent="26670">
              <a:lnSpc>
                <a:spcPct val="113599"/>
              </a:lnSpc>
              <a:spcBef>
                <a:spcPts val="1525"/>
              </a:spcBef>
            </a:pPr>
            <a:r>
              <a:rPr dirty="0" sz="2450" spc="-45">
                <a:solidFill>
                  <a:srgbClr val="2A2A2A"/>
                </a:solidFill>
                <a:latin typeface="Calibri"/>
                <a:cs typeface="Calibri"/>
              </a:rPr>
              <a:t>Comprehensive</a:t>
            </a:r>
            <a:r>
              <a:rPr dirty="0" sz="2450" spc="-1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13131"/>
                </a:solidFill>
                <a:latin typeface="Calibri"/>
                <a:cs typeface="Calibri"/>
              </a:rPr>
              <a:t>analysis</a:t>
            </a:r>
            <a:r>
              <a:rPr dirty="0" sz="2450" spc="-10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2F2F2F"/>
                </a:solidFill>
                <a:latin typeface="Calibri"/>
                <a:cs typeface="Calibri"/>
              </a:rPr>
              <a:t>of</a:t>
            </a:r>
            <a:r>
              <a:rPr dirty="0" sz="2450" spc="-16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2A2A2A"/>
                </a:solidFill>
                <a:latin typeface="Calibri"/>
                <a:cs typeface="Calibri"/>
              </a:rPr>
              <a:t>fund </a:t>
            </a:r>
            <a:r>
              <a:rPr dirty="0" sz="2450" spc="-70">
                <a:solidFill>
                  <a:srgbClr val="2F2F2F"/>
                </a:solidFill>
                <a:latin typeface="Calibri"/>
                <a:cs typeface="Calibri"/>
              </a:rPr>
              <a:t>performance</a:t>
            </a:r>
            <a:r>
              <a:rPr dirty="0" sz="2450" spc="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2D2D2D"/>
                </a:solidFill>
                <a:latin typeface="Calibri"/>
                <a:cs typeface="Calibri"/>
              </a:rPr>
              <a:t>and</a:t>
            </a:r>
            <a:r>
              <a:rPr dirty="0" sz="2450" spc="-22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2B2B2B"/>
                </a:solidFill>
                <a:latin typeface="Calibri"/>
                <a:cs typeface="Calibri"/>
              </a:rPr>
              <a:t>benchmark</a:t>
            </a:r>
            <a:r>
              <a:rPr dirty="0" sz="2450" spc="-3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2F2F2F"/>
                </a:solidFill>
                <a:latin typeface="Calibri"/>
                <a:cs typeface="Calibri"/>
              </a:rPr>
              <a:t>comparison.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55385" y="8125795"/>
            <a:ext cx="7711440" cy="12712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19050">
              <a:lnSpc>
                <a:spcPct val="100000"/>
              </a:lnSpc>
              <a:spcBef>
                <a:spcPts val="120"/>
              </a:spcBef>
            </a:pPr>
            <a:r>
              <a:rPr dirty="0" sz="4100" spc="235">
                <a:solidFill>
                  <a:srgbClr val="1642B1"/>
                </a:solidFill>
                <a:latin typeface="Calibri"/>
                <a:cs typeface="Calibri"/>
              </a:rPr>
              <a:t>Recommendation</a:t>
            </a:r>
            <a:endParaRPr sz="4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925"/>
              </a:spcBef>
            </a:pPr>
            <a:r>
              <a:rPr dirty="0" sz="2450">
                <a:solidFill>
                  <a:srgbClr val="2F2F2F"/>
                </a:solidFill>
                <a:latin typeface="Calibri"/>
                <a:cs typeface="Calibri"/>
              </a:rPr>
              <a:t>Building</a:t>
            </a:r>
            <a:r>
              <a:rPr dirty="0" sz="2450" spc="-7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3A3A3A"/>
                </a:solidFill>
                <a:latin typeface="Calibri"/>
                <a:cs typeface="Calibri"/>
              </a:rPr>
              <a:t>an</a:t>
            </a:r>
            <a:r>
              <a:rPr dirty="0" sz="2450" spc="-21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D2D2D"/>
                </a:solidFill>
                <a:latin typeface="Calibri"/>
                <a:cs typeface="Calibri"/>
              </a:rPr>
              <a:t>intelligent</a:t>
            </a:r>
            <a:r>
              <a:rPr dirty="0" sz="2450" spc="2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65">
                <a:solidFill>
                  <a:srgbClr val="2F2F2F"/>
                </a:solidFill>
                <a:latin typeface="Calibri"/>
                <a:cs typeface="Calibri"/>
              </a:rPr>
              <a:t>engine</a:t>
            </a:r>
            <a:r>
              <a:rPr dirty="0" sz="2450" spc="-114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1F1F1F"/>
                </a:solidFill>
                <a:latin typeface="Calibri"/>
                <a:cs typeface="Calibri"/>
              </a:rPr>
              <a:t>to</a:t>
            </a:r>
            <a:r>
              <a:rPr dirty="0" sz="2450" spc="-245">
                <a:solidFill>
                  <a:srgbClr val="1F1F1F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212121"/>
                </a:solidFill>
                <a:latin typeface="Calibri"/>
                <a:cs typeface="Calibri"/>
              </a:rPr>
              <a:t>match</a:t>
            </a:r>
            <a:r>
              <a:rPr dirty="0" sz="2450" spc="-1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2450" spc="-60">
                <a:solidFill>
                  <a:srgbClr val="383838"/>
                </a:solidFill>
                <a:latin typeface="Calibri"/>
                <a:cs typeface="Calibri"/>
              </a:rPr>
              <a:t>funds</a:t>
            </a:r>
            <a:r>
              <a:rPr dirty="0" sz="2450" spc="-8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2F2F2F"/>
                </a:solidFill>
                <a:latin typeface="Calibri"/>
                <a:cs typeface="Calibri"/>
              </a:rPr>
              <a:t>with</a:t>
            </a:r>
            <a:r>
              <a:rPr dirty="0" sz="2450" spc="-21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13131"/>
                </a:solidFill>
                <a:latin typeface="Calibri"/>
                <a:cs typeface="Calibri"/>
              </a:rPr>
              <a:t>risk</a:t>
            </a:r>
            <a:r>
              <a:rPr dirty="0" sz="2450" spc="-13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1F1F1F"/>
                </a:solidFill>
                <a:latin typeface="Calibri"/>
                <a:cs typeface="Calibri"/>
              </a:rPr>
              <a:t>appetite.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578762" y="4136388"/>
            <a:ext cx="4920615" cy="1695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R="26670">
              <a:lnSpc>
                <a:spcPct val="100000"/>
              </a:lnSpc>
              <a:spcBef>
                <a:spcPts val="120"/>
              </a:spcBef>
            </a:pPr>
            <a:r>
              <a:rPr dirty="0" sz="4100" spc="150">
                <a:solidFill>
                  <a:srgbClr val="1C41AA"/>
                </a:solidFill>
                <a:latin typeface="Calibri"/>
                <a:cs typeface="Calibri"/>
              </a:rPr>
              <a:t>Behavior</a:t>
            </a:r>
            <a:endParaRPr sz="4100">
              <a:latin typeface="Calibri"/>
              <a:cs typeface="Calibri"/>
            </a:endParaRPr>
          </a:p>
          <a:p>
            <a:pPr algn="ctr" marL="12065" marR="5080">
              <a:lnSpc>
                <a:spcPct val="113599"/>
              </a:lnSpc>
              <a:spcBef>
                <a:spcPts val="1525"/>
              </a:spcBef>
            </a:pPr>
            <a:r>
              <a:rPr dirty="0" sz="2450" spc="-60">
                <a:solidFill>
                  <a:srgbClr val="3F3F3F"/>
                </a:solidFill>
                <a:latin typeface="Calibri"/>
                <a:cs typeface="Calibri"/>
              </a:rPr>
              <a:t>Mapping</a:t>
            </a:r>
            <a:r>
              <a:rPr dirty="0" sz="2450" spc="-10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2F2F2F"/>
                </a:solidFill>
                <a:latin typeface="Calibri"/>
                <a:cs typeface="Calibri"/>
              </a:rPr>
              <a:t>investor</a:t>
            </a:r>
            <a:r>
              <a:rPr dirty="0" sz="2450" spc="-10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2A2A2A"/>
                </a:solidFill>
                <a:latin typeface="Calibri"/>
                <a:cs typeface="Calibri"/>
              </a:rPr>
              <a:t>demographic</a:t>
            </a:r>
            <a:r>
              <a:rPr dirty="0" sz="2450" spc="-1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patterns </a:t>
            </a:r>
            <a:r>
              <a:rPr dirty="0" sz="2450" spc="-85">
                <a:solidFill>
                  <a:srgbClr val="2F2F2F"/>
                </a:solidFill>
                <a:latin typeface="Calibri"/>
                <a:cs typeface="Calibri"/>
              </a:rPr>
              <a:t>and</a:t>
            </a:r>
            <a:r>
              <a:rPr dirty="0" sz="2450" spc="-14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2A2A2A"/>
                </a:solidFill>
                <a:latin typeface="Calibri"/>
                <a:cs typeface="Calibri"/>
              </a:rPr>
              <a:t>transaction</a:t>
            </a:r>
            <a:r>
              <a:rPr dirty="0" sz="2450" spc="-4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A2A2A"/>
                </a:solidFill>
                <a:latin typeface="Calibri"/>
                <a:cs typeface="Calibri"/>
              </a:rPr>
              <a:t>behaviors.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35645" y="4136388"/>
            <a:ext cx="4981575" cy="1695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R="27940">
              <a:lnSpc>
                <a:spcPct val="100000"/>
              </a:lnSpc>
              <a:spcBef>
                <a:spcPts val="120"/>
              </a:spcBef>
            </a:pPr>
            <a:r>
              <a:rPr dirty="0" sz="4100" spc="160">
                <a:solidFill>
                  <a:srgbClr val="1A41AE"/>
                </a:solidFill>
                <a:latin typeface="Calibri"/>
                <a:cs typeface="Calibri"/>
              </a:rPr>
              <a:t>Risk</a:t>
            </a:r>
            <a:r>
              <a:rPr dirty="0" sz="4100" spc="-125">
                <a:solidFill>
                  <a:srgbClr val="1A41AE"/>
                </a:solidFill>
                <a:latin typeface="Calibri"/>
                <a:cs typeface="Calibri"/>
              </a:rPr>
              <a:t> </a:t>
            </a:r>
            <a:r>
              <a:rPr dirty="0" sz="4100" spc="105">
                <a:solidFill>
                  <a:srgbClr val="1C3FB1"/>
                </a:solidFill>
                <a:latin typeface="Calibri"/>
                <a:cs typeface="Calibri"/>
              </a:rPr>
              <a:t>Control</a:t>
            </a:r>
            <a:endParaRPr sz="4100">
              <a:latin typeface="Calibri"/>
              <a:cs typeface="Calibri"/>
            </a:endParaRPr>
          </a:p>
          <a:p>
            <a:pPr algn="ctr" marL="12700" marR="5080">
              <a:lnSpc>
                <a:spcPct val="113599"/>
              </a:lnSpc>
              <a:spcBef>
                <a:spcPts val="1525"/>
              </a:spcBef>
            </a:pPr>
            <a:r>
              <a:rPr dirty="0" sz="2450" spc="-30">
                <a:solidFill>
                  <a:srgbClr val="363636"/>
                </a:solidFill>
                <a:latin typeface="Calibri"/>
                <a:cs typeface="Calibri"/>
              </a:rPr>
              <a:t>Developing</a:t>
            </a:r>
            <a:r>
              <a:rPr dirty="0" sz="2450" spc="-1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90">
                <a:solidFill>
                  <a:srgbClr val="2D2D2D"/>
                </a:solidFill>
                <a:latin typeface="Calibri"/>
                <a:cs typeface="Calibri"/>
              </a:rPr>
              <a:t>advanced</a:t>
            </a:r>
            <a:r>
              <a:rPr dirty="0" sz="2450" spc="-9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2F2F2F"/>
                </a:solidFill>
                <a:latin typeface="Calibri"/>
                <a:cs typeface="Calibri"/>
              </a:rPr>
              <a:t>risk</a:t>
            </a:r>
            <a:r>
              <a:rPr dirty="0" sz="2450" spc="-14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83838"/>
                </a:solidFill>
                <a:latin typeface="Calibri"/>
                <a:cs typeface="Calibri"/>
              </a:rPr>
              <a:t>analytics</a:t>
            </a:r>
            <a:r>
              <a:rPr dirty="0" sz="245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63636"/>
                </a:solidFill>
                <a:latin typeface="Calibri"/>
                <a:cs typeface="Calibri"/>
              </a:rPr>
              <a:t>(VaR, </a:t>
            </a:r>
            <a:r>
              <a:rPr dirty="0" sz="2450" spc="-70">
                <a:solidFill>
                  <a:srgbClr val="313131"/>
                </a:solidFill>
                <a:latin typeface="Calibri"/>
                <a:cs typeface="Calibri"/>
              </a:rPr>
              <a:t>Sharpe)</a:t>
            </a:r>
            <a:r>
              <a:rPr dirty="0" sz="2450" spc="-4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D3D3D"/>
                </a:solidFill>
                <a:latin typeface="Calibri"/>
                <a:cs typeface="Calibri"/>
              </a:rPr>
              <a:t>for</a:t>
            </a:r>
            <a:r>
              <a:rPr dirty="0" sz="2450" spc="-19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2F2F2F"/>
                </a:solidFill>
                <a:latin typeface="Calibri"/>
                <a:cs typeface="Calibri"/>
              </a:rPr>
              <a:t>better</a:t>
            </a:r>
            <a:r>
              <a:rPr dirty="0" sz="2450" spc="-10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F2F2F"/>
                </a:solidFill>
                <a:latin typeface="Calibri"/>
                <a:cs typeface="Calibri"/>
              </a:rPr>
              <a:t>oversight.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49207" y="8142156"/>
            <a:ext cx="7662545" cy="125476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19050">
              <a:lnSpc>
                <a:spcPct val="100000"/>
              </a:lnSpc>
              <a:spcBef>
                <a:spcPts val="90"/>
              </a:spcBef>
            </a:pPr>
            <a:r>
              <a:rPr dirty="0" sz="4000" spc="270">
                <a:solidFill>
                  <a:srgbClr val="1A41AE"/>
                </a:solidFill>
                <a:latin typeface="Calibri"/>
                <a:cs typeface="Calibri"/>
              </a:rPr>
              <a:t>Dashboards</a:t>
            </a:r>
            <a:endParaRPr sz="40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dirty="0" sz="2450" spc="-25">
                <a:solidFill>
                  <a:srgbClr val="2A2A2A"/>
                </a:solidFill>
                <a:latin typeface="Calibri"/>
                <a:cs typeface="Calibri"/>
              </a:rPr>
              <a:t>Creating</a:t>
            </a:r>
            <a:r>
              <a:rPr dirty="0" sz="2450" spc="-9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2A2A2A"/>
                </a:solidFill>
                <a:latin typeface="Calibri"/>
                <a:cs typeface="Calibri"/>
              </a:rPr>
              <a:t>interactive</a:t>
            </a:r>
            <a:r>
              <a:rPr dirty="0" sz="2450" spc="-8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63636"/>
                </a:solidFill>
                <a:latin typeface="Calibri"/>
                <a:cs typeface="Calibri"/>
              </a:rPr>
              <a:t>Power</a:t>
            </a:r>
            <a:r>
              <a:rPr dirty="0" sz="2450" spc="-114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43434"/>
                </a:solidFill>
                <a:latin typeface="Calibri"/>
                <a:cs typeface="Calibri"/>
              </a:rPr>
              <a:t>BI</a:t>
            </a:r>
            <a:r>
              <a:rPr dirty="0" sz="2450" spc="12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13131"/>
                </a:solidFill>
                <a:latin typeface="Calibri"/>
                <a:cs typeface="Calibri"/>
              </a:rPr>
              <a:t>visualizers</a:t>
            </a:r>
            <a:r>
              <a:rPr dirty="0" sz="2450" spc="-1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13131"/>
                </a:solidFill>
                <a:latin typeface="Calibri"/>
                <a:cs typeface="Calibri"/>
              </a:rPr>
              <a:t>for</a:t>
            </a:r>
            <a:r>
              <a:rPr dirty="0" sz="2450" spc="-21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13131"/>
                </a:solidFill>
                <a:latin typeface="Calibri"/>
                <a:cs typeface="Calibri"/>
              </a:rPr>
              <a:t>real-</a:t>
            </a:r>
            <a:r>
              <a:rPr dirty="0" sz="2450" spc="-45">
                <a:solidFill>
                  <a:srgbClr val="313131"/>
                </a:solidFill>
                <a:latin typeface="Calibri"/>
                <a:cs typeface="Calibri"/>
              </a:rPr>
              <a:t>time</a:t>
            </a:r>
            <a:r>
              <a:rPr dirty="0" sz="2450" spc="-17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B2B2B"/>
                </a:solidFill>
                <a:latin typeface="Calibri"/>
                <a:cs typeface="Calibri"/>
              </a:rPr>
              <a:t>insights.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1088" y="5685690"/>
            <a:ext cx="463336" cy="47118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67381" y="5693543"/>
            <a:ext cx="463336" cy="45548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261528" y="5685690"/>
            <a:ext cx="463336" cy="47118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79234" y="5685690"/>
            <a:ext cx="463336" cy="47118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65527" y="5693543"/>
            <a:ext cx="463336" cy="455483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559675" y="5685690"/>
            <a:ext cx="471189" cy="47118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686047" y="1111611"/>
            <a:ext cx="74295" cy="92900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900" spc="-985">
                <a:solidFill>
                  <a:srgbClr val="67A0FF"/>
                </a:solidFill>
                <a:latin typeface="Arial"/>
                <a:cs typeface="Arial"/>
              </a:rPr>
              <a:t>i</a:t>
            </a:r>
            <a:endParaRPr sz="5900">
              <a:latin typeface="Arial"/>
              <a:cs typeface="Arial"/>
            </a:endParaRPr>
          </a:p>
        </p:txBody>
      </p: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7862" rIns="0" bIns="0" rtlCol="0" vert="horz">
            <a:spAutoFit/>
          </a:bodyPr>
          <a:lstStyle/>
          <a:p>
            <a:pPr marL="540385">
              <a:lnSpc>
                <a:spcPct val="100000"/>
              </a:lnSpc>
              <a:spcBef>
                <a:spcPts val="125"/>
              </a:spcBef>
            </a:pPr>
            <a:r>
              <a:rPr dirty="0" sz="5900" spc="-165">
                <a:solidFill>
                  <a:srgbClr val="1D3B87"/>
                </a:solidFill>
                <a:latin typeface="Arial"/>
                <a:cs typeface="Arial"/>
              </a:rPr>
              <a:t>Data</a:t>
            </a:r>
            <a:r>
              <a:rPr dirty="0" sz="5900" spc="-434">
                <a:solidFill>
                  <a:srgbClr val="1D3B87"/>
                </a:solidFill>
                <a:latin typeface="Arial"/>
                <a:cs typeface="Arial"/>
              </a:rPr>
              <a:t> </a:t>
            </a:r>
            <a:r>
              <a:rPr dirty="0" sz="5900" spc="-170">
                <a:solidFill>
                  <a:srgbClr val="1D3A8C"/>
                </a:solidFill>
                <a:latin typeface="Arial"/>
                <a:cs typeface="Arial"/>
              </a:rPr>
              <a:t>Engineering</a:t>
            </a:r>
            <a:r>
              <a:rPr dirty="0" sz="5900" spc="-155">
                <a:solidFill>
                  <a:srgbClr val="1D3A8C"/>
                </a:solidFill>
                <a:latin typeface="Arial"/>
                <a:cs typeface="Arial"/>
              </a:rPr>
              <a:t> </a:t>
            </a:r>
            <a:r>
              <a:rPr dirty="0" sz="5900" spc="155">
                <a:solidFill>
                  <a:srgbClr val="1C3B89"/>
                </a:solidFill>
                <a:latin typeface="Arial"/>
                <a:cs typeface="Arial"/>
              </a:rPr>
              <a:t>&amp;</a:t>
            </a:r>
            <a:r>
              <a:rPr dirty="0" sz="5900" spc="-1019">
                <a:solidFill>
                  <a:srgbClr val="1C3B89"/>
                </a:solidFill>
                <a:latin typeface="Arial"/>
                <a:cs typeface="Arial"/>
              </a:rPr>
              <a:t> </a:t>
            </a:r>
            <a:r>
              <a:rPr dirty="0" sz="5900" spc="-1015">
                <a:solidFill>
                  <a:srgbClr val="1F3A89"/>
                </a:solidFill>
                <a:latin typeface="Arial"/>
                <a:cs typeface="Arial"/>
              </a:rPr>
              <a:t>ETL</a:t>
            </a:r>
            <a:r>
              <a:rPr dirty="0" sz="5900" spc="-350">
                <a:solidFill>
                  <a:srgbClr val="1F3A89"/>
                </a:solidFill>
                <a:latin typeface="Arial"/>
                <a:cs typeface="Arial"/>
              </a:rPr>
              <a:t> </a:t>
            </a:r>
            <a:r>
              <a:rPr dirty="0" sz="5900" spc="-50">
                <a:solidFill>
                  <a:srgbClr val="1F3A8A"/>
                </a:solidFill>
                <a:latin typeface="Arial"/>
                <a:cs typeface="Arial"/>
              </a:rPr>
              <a:t>Workflow</a:t>
            </a:r>
            <a:endParaRPr sz="5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1172" y="4671712"/>
            <a:ext cx="2256790" cy="6146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>
                <a:solidFill>
                  <a:srgbClr val="1542B8"/>
                </a:solidFill>
                <a:latin typeface="Calibri"/>
                <a:cs typeface="Calibri"/>
              </a:rPr>
              <a:t>Row</a:t>
            </a:r>
            <a:r>
              <a:rPr dirty="0" sz="3850" spc="570">
                <a:solidFill>
                  <a:srgbClr val="1542B8"/>
                </a:solidFill>
                <a:latin typeface="Calibri"/>
                <a:cs typeface="Calibri"/>
              </a:rPr>
              <a:t> </a:t>
            </a:r>
            <a:r>
              <a:rPr dirty="0" sz="3850" spc="434">
                <a:solidFill>
                  <a:srgbClr val="2848B5"/>
                </a:solidFill>
                <a:latin typeface="Calibri"/>
                <a:cs typeface="Calibri"/>
              </a:rPr>
              <a:t>Data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47521" y="4671712"/>
            <a:ext cx="2464435" cy="6146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 spc="290">
                <a:solidFill>
                  <a:srgbClr val="1A41AC"/>
                </a:solidFill>
                <a:latin typeface="Calibri"/>
                <a:cs typeface="Calibri"/>
              </a:rPr>
              <a:t>Python</a:t>
            </a:r>
            <a:r>
              <a:rPr dirty="0" sz="3850" spc="-240">
                <a:solidFill>
                  <a:srgbClr val="1A41AC"/>
                </a:solidFill>
                <a:latin typeface="Calibri"/>
                <a:cs typeface="Calibri"/>
              </a:rPr>
              <a:t> </a:t>
            </a:r>
            <a:r>
              <a:rPr dirty="0" sz="3850" spc="55">
                <a:solidFill>
                  <a:srgbClr val="1F3F9E"/>
                </a:solidFill>
                <a:latin typeface="Calibri"/>
                <a:cs typeface="Calibri"/>
              </a:rPr>
              <a:t>ETL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68473" y="4671712"/>
            <a:ext cx="1448435" cy="6146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 spc="165">
                <a:solidFill>
                  <a:srgbClr val="1844B1"/>
                </a:solidFill>
                <a:latin typeface="Calibri"/>
                <a:cs typeface="Calibri"/>
              </a:rPr>
              <a:t>SQLite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86445" y="4671712"/>
            <a:ext cx="2206625" cy="6146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 spc="325">
                <a:solidFill>
                  <a:srgbClr val="1A3DB1"/>
                </a:solidFill>
                <a:latin typeface="Calibri"/>
                <a:cs typeface="Calibri"/>
              </a:rPr>
              <a:t>Analytics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696968" y="4671712"/>
            <a:ext cx="1965960" cy="6146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 spc="215">
                <a:solidFill>
                  <a:srgbClr val="1A41AC"/>
                </a:solidFill>
                <a:latin typeface="Calibri"/>
                <a:cs typeface="Calibri"/>
              </a:rPr>
              <a:t>Power</a:t>
            </a:r>
            <a:r>
              <a:rPr dirty="0" sz="3850" spc="-160">
                <a:solidFill>
                  <a:srgbClr val="1A41AC"/>
                </a:solidFill>
                <a:latin typeface="Calibri"/>
                <a:cs typeface="Calibri"/>
              </a:rPr>
              <a:t> </a:t>
            </a:r>
            <a:r>
              <a:rPr dirty="0" sz="3850" spc="135">
                <a:solidFill>
                  <a:srgbClr val="1A41AC"/>
                </a:solidFill>
                <a:latin typeface="Calibri"/>
                <a:cs typeface="Calibri"/>
              </a:rPr>
              <a:t>BI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6846088" y="4671712"/>
            <a:ext cx="1878330" cy="61468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3850" spc="300">
                <a:solidFill>
                  <a:srgbClr val="1A41AF"/>
                </a:solidFill>
                <a:latin typeface="Calibri"/>
                <a:cs typeface="Calibri"/>
              </a:rPr>
              <a:t>Insights</a:t>
            </a:r>
            <a:endParaRPr sz="38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20659" y="6299280"/>
            <a:ext cx="1772920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95">
                <a:solidFill>
                  <a:srgbClr val="242424"/>
                </a:solidFill>
                <a:latin typeface="Calibri"/>
                <a:cs typeface="Calibri"/>
              </a:rPr>
              <a:t>CSV</a:t>
            </a:r>
            <a:r>
              <a:rPr dirty="0" sz="1900" spc="1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242424"/>
                </a:solidFill>
                <a:latin typeface="Calibri"/>
                <a:cs typeface="Calibri"/>
              </a:rPr>
              <a:t>Datasets</a:t>
            </a:r>
            <a:r>
              <a:rPr dirty="0" sz="1900" spc="-5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1900" spc="-20">
                <a:solidFill>
                  <a:srgbClr val="2B2B2B"/>
                </a:solidFill>
                <a:latin typeface="Calibri"/>
                <a:cs typeface="Calibri"/>
              </a:rPr>
              <a:t>(10)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42811" y="6315641"/>
            <a:ext cx="20967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5">
                <a:solidFill>
                  <a:srgbClr val="2D2D2D"/>
                </a:solidFill>
                <a:latin typeface="Calibri"/>
                <a:cs typeface="Calibri"/>
              </a:rPr>
              <a:t>Cleanup</a:t>
            </a:r>
            <a:r>
              <a:rPr dirty="0" sz="1800" spc="6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2A414D"/>
                </a:solidFill>
                <a:latin typeface="Calibri"/>
                <a:cs typeface="Calibri"/>
              </a:rPr>
              <a:t>A</a:t>
            </a:r>
            <a:r>
              <a:rPr dirty="0" sz="1800" spc="50">
                <a:solidFill>
                  <a:srgbClr val="2A414D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62626"/>
                </a:solidFill>
                <a:latin typeface="Calibri"/>
                <a:cs typeface="Calibri"/>
              </a:rPr>
              <a:t>Transform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04146" y="6299280"/>
            <a:ext cx="134810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 spc="-30">
                <a:solidFill>
                  <a:srgbClr val="313131"/>
                </a:solidFill>
                <a:latin typeface="Calibri"/>
                <a:cs typeface="Calibri"/>
              </a:rPr>
              <a:t>Integrated</a:t>
            </a:r>
            <a:r>
              <a:rPr dirty="0" sz="1900" spc="-5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1900" spc="-25">
                <a:solidFill>
                  <a:srgbClr val="262626"/>
                </a:solidFill>
                <a:latin typeface="Calibri"/>
                <a:cs typeface="Calibri"/>
              </a:rPr>
              <a:t>DB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729588" y="6299280"/>
            <a:ext cx="1734185" cy="3200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00">
                <a:solidFill>
                  <a:srgbClr val="2A2A2A"/>
                </a:solidFill>
                <a:latin typeface="Calibri"/>
                <a:cs typeface="Calibri"/>
              </a:rPr>
              <a:t>Jupyter</a:t>
            </a:r>
            <a:r>
              <a:rPr dirty="0" sz="1900" spc="-5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1900" spc="-10">
                <a:solidFill>
                  <a:srgbClr val="2D2D2D"/>
                </a:solidFill>
                <a:latin typeface="Calibri"/>
                <a:cs typeface="Calibri"/>
              </a:rPr>
              <a:t>Modeling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01396" y="6315641"/>
            <a:ext cx="14071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5">
                <a:solidFill>
                  <a:srgbClr val="2F2F2F"/>
                </a:solidFill>
                <a:latin typeface="Calibri"/>
                <a:cs typeface="Calibri"/>
              </a:rPr>
              <a:t>Visualizations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7072258" y="6315641"/>
            <a:ext cx="14370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313131"/>
                </a:solidFill>
                <a:latin typeface="Calibri"/>
                <a:cs typeface="Calibri"/>
              </a:rPr>
              <a:t>Business</a:t>
            </a:r>
            <a:r>
              <a:rPr dirty="0" sz="1800" spc="30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1800" spc="40">
                <a:solidFill>
                  <a:srgbClr val="2D2D2D"/>
                </a:solidFill>
                <a:latin typeface="Calibri"/>
                <a:cs typeface="Calibri"/>
              </a:rPr>
              <a:t>Logic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729700" y="7473983"/>
            <a:ext cx="14666594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60" i="1">
                <a:solidFill>
                  <a:srgbClr val="646464"/>
                </a:solidFill>
                <a:latin typeface="Calibri"/>
                <a:cs typeface="Calibri"/>
              </a:rPr>
              <a:t>Datasets:</a:t>
            </a:r>
            <a:r>
              <a:rPr dirty="0" sz="2550" spc="-75" i="1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2550" spc="-90" i="1">
                <a:solidFill>
                  <a:srgbClr val="6B6B6B"/>
                </a:solidFill>
                <a:latin typeface="Calibri"/>
                <a:cs typeface="Calibri"/>
              </a:rPr>
              <a:t>Fund</a:t>
            </a:r>
            <a:r>
              <a:rPr dirty="0" sz="2550" spc="-220" i="1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dirty="0" sz="2550" spc="-110" i="1">
                <a:solidFill>
                  <a:srgbClr val="5D5D5D"/>
                </a:solidFill>
                <a:latin typeface="Calibri"/>
                <a:cs typeface="Calibri"/>
              </a:rPr>
              <a:t>Master,</a:t>
            </a:r>
            <a:r>
              <a:rPr dirty="0" sz="2550" spc="-105" i="1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2550" i="1">
                <a:solidFill>
                  <a:srgbClr val="5D5D5D"/>
                </a:solidFill>
                <a:latin typeface="Calibri"/>
                <a:cs typeface="Calibri"/>
              </a:rPr>
              <a:t>NAVHistory,</a:t>
            </a:r>
            <a:r>
              <a:rPr dirty="0" sz="2550" spc="-5" i="1">
                <a:solidFill>
                  <a:srgbClr val="5D5D5D"/>
                </a:solidFill>
                <a:latin typeface="Calibri"/>
                <a:cs typeface="Calibri"/>
              </a:rPr>
              <a:t> </a:t>
            </a:r>
            <a:r>
              <a:rPr dirty="0" sz="2550" spc="-100" i="1">
                <a:solidFill>
                  <a:srgbClr val="A3A8C4"/>
                </a:solidFill>
                <a:latin typeface="Calibri"/>
                <a:cs typeface="Calibri"/>
              </a:rPr>
              <a:t>AUM,</a:t>
            </a:r>
            <a:r>
              <a:rPr dirty="0" sz="2550" spc="-180" i="1">
                <a:solidFill>
                  <a:srgbClr val="A3A8C4"/>
                </a:solidFill>
                <a:latin typeface="Calibri"/>
                <a:cs typeface="Calibri"/>
              </a:rPr>
              <a:t> </a:t>
            </a:r>
            <a:r>
              <a:rPr dirty="0" sz="2550" spc="70" i="1">
                <a:solidFill>
                  <a:srgbClr val="626779"/>
                </a:solidFill>
                <a:latin typeface="Calibri"/>
                <a:cs typeface="Calibri"/>
              </a:rPr>
              <a:t>5lP</a:t>
            </a:r>
            <a:r>
              <a:rPr dirty="0" sz="2550" spc="-225" i="1">
                <a:solidFill>
                  <a:srgbClr val="626779"/>
                </a:solidFill>
                <a:latin typeface="Calibri"/>
                <a:cs typeface="Calibri"/>
              </a:rPr>
              <a:t> </a:t>
            </a:r>
            <a:r>
              <a:rPr dirty="0" sz="2550" spc="-45" i="1">
                <a:solidFill>
                  <a:srgbClr val="626262"/>
                </a:solidFill>
                <a:latin typeface="Calibri"/>
                <a:cs typeface="Calibri"/>
              </a:rPr>
              <a:t>Inliows,</a:t>
            </a:r>
            <a:r>
              <a:rPr dirty="0" sz="2550" spc="-80" i="1">
                <a:solidFill>
                  <a:srgbClr val="626262"/>
                </a:solidFill>
                <a:latin typeface="Calibri"/>
                <a:cs typeface="Calibri"/>
              </a:rPr>
              <a:t> </a:t>
            </a:r>
            <a:r>
              <a:rPr dirty="0" sz="2550" spc="-80" i="1">
                <a:solidFill>
                  <a:srgbClr val="6E7591"/>
                </a:solidFill>
                <a:latin typeface="Calibri"/>
                <a:cs typeface="Calibri"/>
              </a:rPr>
              <a:t>Category</a:t>
            </a:r>
            <a:r>
              <a:rPr dirty="0" sz="2550" spc="-125" i="1">
                <a:solidFill>
                  <a:srgbClr val="6E7591"/>
                </a:solidFill>
                <a:latin typeface="Calibri"/>
                <a:cs typeface="Calibri"/>
              </a:rPr>
              <a:t> </a:t>
            </a:r>
            <a:r>
              <a:rPr dirty="0" sz="2550" spc="-50" i="1">
                <a:solidFill>
                  <a:srgbClr val="6B7583"/>
                </a:solidFill>
                <a:latin typeface="Calibri"/>
                <a:cs typeface="Calibri"/>
              </a:rPr>
              <a:t>Inliows,</a:t>
            </a:r>
            <a:r>
              <a:rPr dirty="0" sz="2550" spc="-105" i="1">
                <a:solidFill>
                  <a:srgbClr val="6B7583"/>
                </a:solidFill>
                <a:latin typeface="Calibri"/>
                <a:cs typeface="Calibri"/>
              </a:rPr>
              <a:t> </a:t>
            </a:r>
            <a:r>
              <a:rPr dirty="0" sz="2550" spc="-30" i="1">
                <a:solidFill>
                  <a:srgbClr val="696969"/>
                </a:solidFill>
                <a:latin typeface="Calibri"/>
                <a:cs typeface="Calibri"/>
              </a:rPr>
              <a:t>Investor</a:t>
            </a:r>
            <a:r>
              <a:rPr dirty="0" sz="2550" spc="-20" i="1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dirty="0" sz="2550" spc="-95" i="1">
                <a:solidFill>
                  <a:srgbClr val="646464"/>
                </a:solidFill>
                <a:latin typeface="Calibri"/>
                <a:cs typeface="Calibri"/>
              </a:rPr>
              <a:t>Transactions,</a:t>
            </a:r>
            <a:r>
              <a:rPr dirty="0" sz="2550" spc="45" i="1">
                <a:solidFill>
                  <a:srgbClr val="646464"/>
                </a:solidFill>
                <a:latin typeface="Calibri"/>
                <a:cs typeface="Calibri"/>
              </a:rPr>
              <a:t> </a:t>
            </a:r>
            <a:r>
              <a:rPr dirty="0" sz="2550" spc="-40" i="1">
                <a:solidFill>
                  <a:srgbClr val="6B6B6B"/>
                </a:solidFill>
                <a:latin typeface="Calibri"/>
                <a:cs typeface="Calibri"/>
              </a:rPr>
              <a:t>Portfolio</a:t>
            </a:r>
            <a:r>
              <a:rPr dirty="0" sz="2550" spc="-155" i="1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dirty="0" sz="2550" spc="-75" i="1">
                <a:solidFill>
                  <a:srgbClr val="696969"/>
                </a:solidFill>
                <a:latin typeface="Calibri"/>
                <a:cs typeface="Calibri"/>
              </a:rPr>
              <a:t>Holdings,</a:t>
            </a:r>
            <a:r>
              <a:rPr dirty="0" sz="2550" spc="-50" i="1">
                <a:solidFill>
                  <a:srgbClr val="696969"/>
                </a:solidFill>
                <a:latin typeface="Calibri"/>
                <a:cs typeface="Calibri"/>
              </a:rPr>
              <a:t> </a:t>
            </a:r>
            <a:r>
              <a:rPr dirty="0" sz="2550" spc="-20" i="1">
                <a:solidFill>
                  <a:srgbClr val="676767"/>
                </a:solidFill>
                <a:latin typeface="Calibri"/>
                <a:cs typeface="Calibri"/>
              </a:rPr>
              <a:t>etc.</a:t>
            </a:r>
            <a:endParaRPr sz="25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82065" y="3816637"/>
            <a:ext cx="13766800" cy="57340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92710" rIns="0" bIns="0" rtlCol="0" vert="horz">
            <a:spAutoFit/>
          </a:bodyPr>
          <a:lstStyle/>
          <a:p>
            <a:pPr algn="r" marR="58419">
              <a:lnSpc>
                <a:spcPct val="100000"/>
              </a:lnSpc>
              <a:spcBef>
                <a:spcPts val="730"/>
              </a:spcBef>
            </a:pPr>
            <a:r>
              <a:rPr dirty="0" sz="2300" spc="-30">
                <a:solidFill>
                  <a:srgbClr val="FFFFFF"/>
                </a:solidFill>
                <a:latin typeface="Arial"/>
                <a:cs typeface="Arial"/>
              </a:rPr>
              <a:t>765.74</a:t>
            </a:r>
            <a:endParaRPr sz="2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82065" y="4601953"/>
            <a:ext cx="10970895" cy="57340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05410" rIns="0" bIns="0" rtlCol="0" vert="horz">
            <a:spAutoFit/>
          </a:bodyPr>
          <a:lstStyle/>
          <a:p>
            <a:pPr algn="r" marR="56515">
              <a:lnSpc>
                <a:spcPct val="100000"/>
              </a:lnSpc>
              <a:spcBef>
                <a:spcPts val="830"/>
              </a:spcBef>
            </a:pPr>
            <a:r>
              <a:rPr dirty="0" sz="2200" spc="-10">
                <a:solidFill>
                  <a:srgbClr val="FFFFFF"/>
                </a:solidFill>
                <a:latin typeface="Arial"/>
                <a:cs typeface="Arial"/>
              </a:rPr>
              <a:t>753.40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82065" y="5387270"/>
            <a:ext cx="6212205" cy="57340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105410" rIns="0" bIns="0" rtlCol="0" vert="horz">
            <a:spAutoFit/>
          </a:bodyPr>
          <a:lstStyle/>
          <a:p>
            <a:pPr algn="r" marR="33655">
              <a:lnSpc>
                <a:spcPct val="100000"/>
              </a:lnSpc>
              <a:spcBef>
                <a:spcPts val="830"/>
              </a:spcBef>
            </a:pPr>
            <a:r>
              <a:rPr dirty="0" sz="2200" spc="-145">
                <a:solidFill>
                  <a:srgbClr val="FFFFFF"/>
                </a:solidFill>
                <a:latin typeface="Arial"/>
                <a:cs typeface="Arial"/>
              </a:rPr>
              <a:t>92.89</a:t>
            </a:r>
            <a:r>
              <a:rPr dirty="0" sz="2200" spc="-2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0">
                <a:solidFill>
                  <a:srgbClr val="FFFFFF"/>
                </a:solidFill>
                <a:latin typeface="Arial"/>
                <a:cs typeface="Arial"/>
              </a:rPr>
              <a:t>Lakh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0048" rIns="0" bIns="0" rtlCol="0" vert="horz">
            <a:spAutoFit/>
          </a:bodyPr>
          <a:lstStyle/>
          <a:p>
            <a:pPr marL="537845">
              <a:lnSpc>
                <a:spcPct val="100000"/>
              </a:lnSpc>
              <a:spcBef>
                <a:spcPts val="114"/>
              </a:spcBef>
            </a:pPr>
            <a:r>
              <a:rPr dirty="0" sz="5650" spc="254">
                <a:solidFill>
                  <a:srgbClr val="1C388C"/>
                </a:solidFill>
              </a:rPr>
              <a:t>Industry</a:t>
            </a:r>
            <a:r>
              <a:rPr dirty="0" sz="5650" spc="30">
                <a:solidFill>
                  <a:srgbClr val="1C388C"/>
                </a:solidFill>
              </a:rPr>
              <a:t> </a:t>
            </a:r>
            <a:r>
              <a:rPr dirty="0" sz="5650" spc="215">
                <a:solidFill>
                  <a:srgbClr val="1D3A8E"/>
                </a:solidFill>
              </a:rPr>
              <a:t>Trends:</a:t>
            </a:r>
            <a:r>
              <a:rPr dirty="0" sz="5650" spc="-265">
                <a:solidFill>
                  <a:srgbClr val="1D3A8E"/>
                </a:solidFill>
              </a:rPr>
              <a:t> </a:t>
            </a:r>
            <a:r>
              <a:rPr dirty="0" sz="5650" spc="60">
                <a:solidFill>
                  <a:srgbClr val="1F3A89"/>
                </a:solidFill>
              </a:rPr>
              <a:t>EDA</a:t>
            </a:r>
            <a:r>
              <a:rPr dirty="0" sz="5650" spc="-355">
                <a:solidFill>
                  <a:srgbClr val="1F3A89"/>
                </a:solidFill>
              </a:rPr>
              <a:t> </a:t>
            </a:r>
            <a:r>
              <a:rPr dirty="0" sz="5650" spc="290">
                <a:solidFill>
                  <a:srgbClr val="1D3B8A"/>
                </a:solidFill>
              </a:rPr>
              <a:t>Insights</a:t>
            </a:r>
            <a:endParaRPr sz="5650"/>
          </a:p>
        </p:txBody>
      </p:sp>
      <p:sp>
        <p:nvSpPr>
          <p:cNvPr id="6" name="object 6"/>
          <p:cNvSpPr txBox="1"/>
          <p:nvPr/>
        </p:nvSpPr>
        <p:spPr>
          <a:xfrm>
            <a:off x="2178533" y="3910609"/>
            <a:ext cx="191579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latin typeface="Calibri"/>
                <a:cs typeface="Calibri"/>
              </a:rPr>
              <a:t>Fiscal</a:t>
            </a:r>
            <a:r>
              <a:rPr dirty="0" sz="2200" spc="-1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2025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AUM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78533" y="4695926"/>
            <a:ext cx="191579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latin typeface="Calibri"/>
                <a:cs typeface="Calibri"/>
              </a:rPr>
              <a:t>Fiscal</a:t>
            </a:r>
            <a:r>
              <a:rPr dirty="0" sz="2200" spc="-1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2024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25">
                <a:latin typeface="Calibri"/>
                <a:cs typeface="Calibri"/>
              </a:rPr>
              <a:t>AUM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90157" y="5481242"/>
            <a:ext cx="197612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latin typeface="Calibri"/>
                <a:cs typeface="Calibri"/>
              </a:rPr>
              <a:t>SIP</a:t>
            </a:r>
            <a:r>
              <a:rPr dirty="0" sz="2200" spc="8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Contributions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7532" y="6814971"/>
            <a:ext cx="10155555" cy="18751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95"/>
              </a:spcBef>
            </a:pPr>
            <a:r>
              <a:rPr dirty="0" sz="2450" spc="65">
                <a:solidFill>
                  <a:srgbClr val="2D2D2D"/>
                </a:solidFill>
                <a:latin typeface="Calibri"/>
                <a:cs typeface="Calibri"/>
              </a:rPr>
              <a:t>23.1%YoYGrowth:</a:t>
            </a:r>
            <a:r>
              <a:rPr dirty="0" sz="2450" spc="-229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33333"/>
                </a:solidFill>
                <a:latin typeface="Calibri"/>
                <a:cs typeface="Calibri"/>
              </a:rPr>
              <a:t>Asset</a:t>
            </a:r>
            <a:r>
              <a:rPr dirty="0" sz="2450" spc="-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2F2F2F"/>
                </a:solidFill>
                <a:latin typeface="Calibri"/>
                <a:cs typeface="Calibri"/>
              </a:rPr>
              <a:t>base</a:t>
            </a:r>
            <a:r>
              <a:rPr dirty="0" sz="2450" spc="-21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95">
                <a:solidFill>
                  <a:srgbClr val="313131"/>
                </a:solidFill>
                <a:latin typeface="Calibri"/>
                <a:cs typeface="Calibri"/>
              </a:rPr>
              <a:t>reached</a:t>
            </a:r>
            <a:r>
              <a:rPr dirty="0" sz="2450" spc="-65">
                <a:solidFill>
                  <a:srgbClr val="313131"/>
                </a:solidFill>
                <a:latin typeface="Calibri"/>
                <a:cs typeface="Calibri"/>
              </a:rPr>
              <a:t> record</a:t>
            </a:r>
            <a:r>
              <a:rPr dirty="0" sz="2450" spc="-12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2D2D2D"/>
                </a:solidFill>
                <a:latin typeface="Calibri"/>
                <a:cs typeface="Calibri"/>
              </a:rPr>
              <a:t>highs</a:t>
            </a:r>
            <a:r>
              <a:rPr dirty="0" sz="2450" spc="-9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43434"/>
                </a:solidFill>
                <a:latin typeface="Calibri"/>
                <a:cs typeface="Calibri"/>
              </a:rPr>
              <a:t>driven</a:t>
            </a:r>
            <a:r>
              <a:rPr dirty="0" sz="2450" spc="-10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83838"/>
                </a:solidFill>
                <a:latin typeface="Calibri"/>
                <a:cs typeface="Calibri"/>
              </a:rPr>
              <a:t>by</a:t>
            </a:r>
            <a:r>
              <a:rPr dirty="0" sz="2450" spc="-2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313131"/>
                </a:solidFill>
                <a:latin typeface="Calibri"/>
                <a:cs typeface="Calibri"/>
              </a:rPr>
              <a:t>retail</a:t>
            </a:r>
            <a:r>
              <a:rPr dirty="0" sz="2450" spc="-9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63636"/>
                </a:solidFill>
                <a:latin typeface="Calibri"/>
                <a:cs typeface="Calibri"/>
              </a:rPr>
              <a:t>participation.</a:t>
            </a:r>
            <a:endParaRPr sz="2450">
              <a:latin typeface="Calibri"/>
              <a:cs typeface="Calibri"/>
            </a:endParaRPr>
          </a:p>
          <a:p>
            <a:pPr marL="12700" marR="5080" indent="6985">
              <a:lnSpc>
                <a:spcPct val="197700"/>
              </a:lnSpc>
            </a:pPr>
            <a:r>
              <a:rPr dirty="0" sz="2450">
                <a:solidFill>
                  <a:srgbClr val="2F4959"/>
                </a:solidFill>
                <a:latin typeface="Calibri"/>
                <a:cs typeface="Calibri"/>
              </a:rPr>
              <a:t>SIP</a:t>
            </a:r>
            <a:r>
              <a:rPr dirty="0" sz="2450" spc="-55">
                <a:solidFill>
                  <a:srgbClr val="2F4959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13131"/>
                </a:solidFill>
                <a:latin typeface="Calibri"/>
                <a:cs typeface="Calibri"/>
              </a:rPr>
              <a:t>Dominance:</a:t>
            </a:r>
            <a:r>
              <a:rPr dirty="0" sz="2450" spc="-2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282828"/>
                </a:solidFill>
                <a:latin typeface="Calibri"/>
                <a:cs typeface="Calibri"/>
              </a:rPr>
              <a:t>SIP</a:t>
            </a:r>
            <a:r>
              <a:rPr dirty="0" sz="2450" spc="12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43434"/>
                </a:solidFill>
                <a:latin typeface="Calibri"/>
                <a:cs typeface="Calibri"/>
              </a:rPr>
              <a:t>flows</a:t>
            </a:r>
            <a:r>
              <a:rPr dirty="0" sz="2450" spc="-12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3B3B3B"/>
                </a:solidFill>
                <a:latin typeface="Calibri"/>
                <a:cs typeface="Calibri"/>
              </a:rPr>
              <a:t>grew</a:t>
            </a:r>
            <a:r>
              <a:rPr dirty="0" sz="2450" spc="-12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2A2A2A"/>
                </a:solidFill>
                <a:latin typeface="Calibri"/>
                <a:cs typeface="Calibri"/>
              </a:rPr>
              <a:t>45%</a:t>
            </a:r>
            <a:r>
              <a:rPr dirty="0" sz="2450" spc="-16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63636"/>
                </a:solidFill>
                <a:latin typeface="Calibri"/>
                <a:cs typeface="Calibri"/>
              </a:rPr>
              <a:t>YoY,</a:t>
            </a:r>
            <a:r>
              <a:rPr dirty="0" sz="2450" spc="-20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242424"/>
                </a:solidFill>
                <a:latin typeface="Calibri"/>
                <a:cs typeface="Calibri"/>
              </a:rPr>
              <a:t>representing</a:t>
            </a:r>
            <a:r>
              <a:rPr dirty="0" sz="2450" spc="25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82828"/>
                </a:solidFill>
                <a:latin typeface="Calibri"/>
                <a:cs typeface="Calibri"/>
              </a:rPr>
              <a:t>structural</a:t>
            </a:r>
            <a:r>
              <a:rPr dirty="0" sz="2450" spc="-9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63636"/>
                </a:solidFill>
                <a:latin typeface="Calibri"/>
                <a:cs typeface="Calibri"/>
              </a:rPr>
              <a:t>investment</a:t>
            </a:r>
            <a:r>
              <a:rPr dirty="0" sz="2450" spc="6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32323"/>
                </a:solidFill>
                <a:latin typeface="Calibri"/>
                <a:cs typeface="Calibri"/>
              </a:rPr>
              <a:t>shifts. </a:t>
            </a:r>
            <a:r>
              <a:rPr dirty="0" sz="2450">
                <a:solidFill>
                  <a:srgbClr val="3D3D3D"/>
                </a:solidFill>
                <a:latin typeface="Calibri"/>
                <a:cs typeface="Calibri"/>
              </a:rPr>
              <a:t>Equity</a:t>
            </a:r>
            <a:r>
              <a:rPr dirty="0" sz="2450" spc="-114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43434"/>
                </a:solidFill>
                <a:latin typeface="Calibri"/>
                <a:cs typeface="Calibri"/>
              </a:rPr>
              <a:t>Lead:</a:t>
            </a:r>
            <a:r>
              <a:rPr dirty="0" sz="2450" spc="-14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Equity</a:t>
            </a:r>
            <a:r>
              <a:rPr dirty="0" sz="2450" spc="-6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100">
                <a:solidFill>
                  <a:srgbClr val="383838"/>
                </a:solidFill>
                <a:latin typeface="Calibri"/>
                <a:cs typeface="Calibri"/>
              </a:rPr>
              <a:t>schemes</a:t>
            </a:r>
            <a:r>
              <a:rPr dirty="0" sz="2450" spc="3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F2F2F"/>
                </a:solidFill>
                <a:latin typeface="Calibri"/>
                <a:cs typeface="Calibri"/>
              </a:rPr>
              <a:t>constitute</a:t>
            </a:r>
            <a:r>
              <a:rPr dirty="0" sz="2450" spc="-8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A3A3A"/>
                </a:solidFill>
                <a:latin typeface="Calibri"/>
                <a:cs typeface="Calibri"/>
              </a:rPr>
              <a:t>70%</a:t>
            </a:r>
            <a:r>
              <a:rPr dirty="0" sz="2450" spc="-16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313131"/>
                </a:solidFill>
                <a:latin typeface="Calibri"/>
                <a:cs typeface="Calibri"/>
              </a:rPr>
              <a:t>of</a:t>
            </a:r>
            <a:r>
              <a:rPr dirty="0" sz="2450" spc="-7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F3F3F"/>
                </a:solidFill>
                <a:latin typeface="Calibri"/>
                <a:cs typeface="Calibri"/>
              </a:rPr>
              <a:t>the</a:t>
            </a:r>
            <a:r>
              <a:rPr dirty="0" sz="2450" spc="-215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13131"/>
                </a:solidFill>
                <a:latin typeface="Calibri"/>
                <a:cs typeface="Calibri"/>
              </a:rPr>
              <a:t>total</a:t>
            </a:r>
            <a:r>
              <a:rPr dirty="0" sz="2450" spc="-9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33333"/>
                </a:solidFill>
                <a:latin typeface="Calibri"/>
                <a:cs typeface="Calibri"/>
              </a:rPr>
              <a:t>investor</a:t>
            </a:r>
            <a:r>
              <a:rPr dirty="0" sz="2450" spc="-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33333"/>
                </a:solidFill>
                <a:latin typeface="Calibri"/>
                <a:cs typeface="Calibri"/>
              </a:rPr>
              <a:t>folio</a:t>
            </a:r>
            <a:r>
              <a:rPr dirty="0" sz="2450" spc="-15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A3A3A"/>
                </a:solidFill>
                <a:latin typeface="Calibri"/>
                <a:cs typeface="Calibri"/>
              </a:rPr>
              <a:t>share.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6617" y="5473655"/>
            <a:ext cx="973792" cy="14135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69564" y="5505067"/>
            <a:ext cx="2638663" cy="139786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6994247" y="11198611"/>
            <a:ext cx="3110230" cy="55244"/>
          </a:xfrm>
          <a:custGeom>
            <a:avLst/>
            <a:gdLst/>
            <a:ahLst/>
            <a:cxnLst/>
            <a:rect l="l" t="t" r="r" b="b"/>
            <a:pathLst>
              <a:path w="3110230" h="55245">
                <a:moveTo>
                  <a:pt x="3109853" y="54972"/>
                </a:moveTo>
                <a:lnTo>
                  <a:pt x="0" y="54972"/>
                </a:lnTo>
                <a:lnTo>
                  <a:pt x="0" y="0"/>
                </a:lnTo>
                <a:lnTo>
                  <a:pt x="3109853" y="0"/>
                </a:lnTo>
                <a:lnTo>
                  <a:pt x="3109853" y="54972"/>
                </a:lnTo>
                <a:close/>
              </a:path>
            </a:pathLst>
          </a:custGeom>
          <a:solidFill>
            <a:srgbClr val="1C38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553720">
              <a:lnSpc>
                <a:spcPct val="100000"/>
              </a:lnSpc>
              <a:spcBef>
                <a:spcPts val="105"/>
              </a:spcBef>
            </a:pPr>
            <a:r>
              <a:rPr dirty="0" sz="6050" spc="175">
                <a:solidFill>
                  <a:srgbClr val="1F3B80"/>
                </a:solidFill>
              </a:rPr>
              <a:t>Advanced</a:t>
            </a:r>
            <a:r>
              <a:rPr dirty="0" sz="6050" spc="-240">
                <a:solidFill>
                  <a:srgbClr val="1F3B80"/>
                </a:solidFill>
              </a:rPr>
              <a:t> </a:t>
            </a:r>
            <a:r>
              <a:rPr dirty="0" sz="6050" spc="50">
                <a:solidFill>
                  <a:srgbClr val="1C3A90"/>
                </a:solidFill>
              </a:rPr>
              <a:t>Performance</a:t>
            </a:r>
            <a:r>
              <a:rPr dirty="0" sz="6050" spc="210">
                <a:solidFill>
                  <a:srgbClr val="1C3A90"/>
                </a:solidFill>
              </a:rPr>
              <a:t> </a:t>
            </a:r>
            <a:r>
              <a:rPr dirty="0" sz="6050" spc="130">
                <a:solidFill>
                  <a:srgbClr val="1F388E"/>
                </a:solidFill>
              </a:rPr>
              <a:t>Analytics</a:t>
            </a:r>
            <a:endParaRPr sz="6050"/>
          </a:p>
        </p:txBody>
      </p:sp>
      <p:sp>
        <p:nvSpPr>
          <p:cNvPr id="6" name="object 6"/>
          <p:cNvSpPr txBox="1"/>
          <p:nvPr/>
        </p:nvSpPr>
        <p:spPr>
          <a:xfrm>
            <a:off x="11049863" y="4753516"/>
            <a:ext cx="7992745" cy="319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415" marR="424815" indent="-6350">
              <a:lnSpc>
                <a:spcPct val="113599"/>
              </a:lnSpc>
              <a:spcBef>
                <a:spcPts val="100"/>
              </a:spcBef>
            </a:pPr>
            <a:r>
              <a:rPr dirty="0" sz="2450">
                <a:solidFill>
                  <a:srgbClr val="313131"/>
                </a:solidFill>
                <a:latin typeface="Calibri"/>
                <a:cs typeface="Calibri"/>
              </a:rPr>
              <a:t>Historical</a:t>
            </a:r>
            <a:r>
              <a:rPr dirty="0" sz="2450" spc="-3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83838"/>
                </a:solidFill>
                <a:latin typeface="Calibri"/>
                <a:cs typeface="Calibri"/>
              </a:rPr>
              <a:t>VaR:</a:t>
            </a:r>
            <a:r>
              <a:rPr dirty="0" sz="2450" spc="-13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F2F2F"/>
                </a:solidFill>
                <a:latin typeface="Calibri"/>
                <a:cs typeface="Calibri"/>
              </a:rPr>
              <a:t>Quantifying</a:t>
            </a:r>
            <a:r>
              <a:rPr dirty="0" sz="2450" spc="-8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13131"/>
                </a:solidFill>
                <a:latin typeface="Calibri"/>
                <a:cs typeface="Calibri"/>
              </a:rPr>
              <a:t>potential</a:t>
            </a:r>
            <a:r>
              <a:rPr dirty="0" sz="2450" spc="10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D2D2D"/>
                </a:solidFill>
                <a:latin typeface="Calibri"/>
                <a:cs typeface="Calibri"/>
              </a:rPr>
              <a:t>loss</a:t>
            </a:r>
            <a:r>
              <a:rPr dirty="0" sz="2450" spc="-3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333333"/>
                </a:solidFill>
                <a:latin typeface="Calibri"/>
                <a:cs typeface="Calibri"/>
              </a:rPr>
              <a:t>at</a:t>
            </a:r>
            <a:r>
              <a:rPr dirty="0" sz="2450" spc="-10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65">
                <a:solidFill>
                  <a:srgbClr val="363636"/>
                </a:solidFill>
                <a:latin typeface="Calibri"/>
                <a:cs typeface="Calibri"/>
              </a:rPr>
              <a:t>a</a:t>
            </a:r>
            <a:r>
              <a:rPr dirty="0" sz="2450" spc="-9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65">
                <a:solidFill>
                  <a:srgbClr val="383838"/>
                </a:solidFill>
                <a:latin typeface="Calibri"/>
                <a:cs typeface="Calibri"/>
              </a:rPr>
              <a:t>95%</a:t>
            </a:r>
            <a:r>
              <a:rPr dirty="0" sz="2450" spc="-14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F2F2F"/>
                </a:solidFill>
                <a:latin typeface="Calibri"/>
                <a:cs typeface="Calibri"/>
              </a:rPr>
              <a:t>confidence </a:t>
            </a:r>
            <a:r>
              <a:rPr dirty="0" sz="2450" spc="-30">
                <a:solidFill>
                  <a:srgbClr val="343434"/>
                </a:solidFill>
                <a:latin typeface="Calibri"/>
                <a:cs typeface="Calibri"/>
              </a:rPr>
              <a:t>interval</a:t>
            </a:r>
            <a:r>
              <a:rPr dirty="0" sz="2450" spc="-9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363636"/>
                </a:solidFill>
                <a:latin typeface="Calibri"/>
                <a:cs typeface="Calibri"/>
              </a:rPr>
              <a:t>over</a:t>
            </a:r>
            <a:r>
              <a:rPr dirty="0" sz="2450" spc="-12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63636"/>
                </a:solidFill>
                <a:latin typeface="Calibri"/>
                <a:cs typeface="Calibri"/>
              </a:rPr>
              <a:t>time.</a:t>
            </a:r>
            <a:endParaRPr sz="2450">
              <a:latin typeface="Calibri"/>
              <a:cs typeface="Calibri"/>
            </a:endParaRPr>
          </a:p>
          <a:p>
            <a:pPr marL="22860" marR="286385" indent="-7620">
              <a:lnSpc>
                <a:spcPct val="113599"/>
              </a:lnSpc>
              <a:spcBef>
                <a:spcPts val="2470"/>
              </a:spcBef>
            </a:pPr>
            <a:r>
              <a:rPr dirty="0" sz="2450" spc="-20">
                <a:solidFill>
                  <a:srgbClr val="363636"/>
                </a:solidFill>
                <a:latin typeface="Calibri"/>
                <a:cs typeface="Calibri"/>
              </a:rPr>
              <a:t>Conditional</a:t>
            </a:r>
            <a:r>
              <a:rPr dirty="0" sz="2450" spc="-6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60">
                <a:solidFill>
                  <a:srgbClr val="364870"/>
                </a:solidFill>
                <a:latin typeface="Calibri"/>
                <a:cs typeface="Calibri"/>
              </a:rPr>
              <a:t>VaR</a:t>
            </a:r>
            <a:r>
              <a:rPr dirty="0" sz="2450" spc="-160">
                <a:solidFill>
                  <a:srgbClr val="364870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43434"/>
                </a:solidFill>
                <a:latin typeface="Calibri"/>
                <a:cs typeface="Calibri"/>
              </a:rPr>
              <a:t>(CVaR):</a:t>
            </a:r>
            <a:r>
              <a:rPr dirty="0" sz="2450" spc="-15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13131"/>
                </a:solidFill>
                <a:latin typeface="Calibri"/>
                <a:cs typeface="Calibri"/>
              </a:rPr>
              <a:t>Analyzing</a:t>
            </a:r>
            <a:r>
              <a:rPr dirty="0" sz="2450" spc="3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2450" spc="-2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333333"/>
                </a:solidFill>
                <a:latin typeface="Calibri"/>
                <a:cs typeface="Calibri"/>
              </a:rPr>
              <a:t>"tail</a:t>
            </a:r>
            <a:r>
              <a:rPr dirty="0" sz="2450" spc="-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83838"/>
                </a:solidFill>
                <a:latin typeface="Calibri"/>
                <a:cs typeface="Calibri"/>
              </a:rPr>
              <a:t>risk"</a:t>
            </a:r>
            <a:r>
              <a:rPr dirty="0" sz="2450" spc="-204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D3D3D"/>
                </a:solidFill>
                <a:latin typeface="Calibri"/>
                <a:cs typeface="Calibri"/>
              </a:rPr>
              <a:t>or</a:t>
            </a:r>
            <a:r>
              <a:rPr dirty="0" sz="2450" spc="-13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33333"/>
                </a:solidFill>
                <a:latin typeface="Calibri"/>
                <a:cs typeface="Calibri"/>
              </a:rPr>
              <a:t>the</a:t>
            </a:r>
            <a:r>
              <a:rPr dirty="0" sz="2450" spc="-22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63636"/>
                </a:solidFill>
                <a:latin typeface="Calibri"/>
                <a:cs typeface="Calibri"/>
              </a:rPr>
              <a:t>average </a:t>
            </a:r>
            <a:r>
              <a:rPr dirty="0" sz="2450" spc="-20">
                <a:solidFill>
                  <a:srgbClr val="383838"/>
                </a:solidFill>
                <a:latin typeface="Calibri"/>
                <a:cs typeface="Calibri"/>
              </a:rPr>
              <a:t>loss</a:t>
            </a:r>
            <a:r>
              <a:rPr dirty="0" sz="2450" spc="-8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80">
                <a:solidFill>
                  <a:srgbClr val="282828"/>
                </a:solidFill>
                <a:latin typeface="Calibri"/>
                <a:cs typeface="Calibri"/>
              </a:rPr>
              <a:t>beyond</a:t>
            </a:r>
            <a:r>
              <a:rPr dirty="0" sz="2450" spc="-7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33333"/>
                </a:solidFill>
                <a:latin typeface="Calibri"/>
                <a:cs typeface="Calibri"/>
              </a:rPr>
              <a:t>theVaR</a:t>
            </a:r>
            <a:r>
              <a:rPr dirty="0" sz="2450" spc="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threshold.</a:t>
            </a:r>
            <a:endParaRPr sz="2450">
              <a:latin typeface="Calibri"/>
              <a:cs typeface="Calibri"/>
            </a:endParaRPr>
          </a:p>
          <a:p>
            <a:pPr marL="33655" marR="5080" indent="-13970">
              <a:lnSpc>
                <a:spcPct val="113599"/>
              </a:lnSpc>
              <a:spcBef>
                <a:spcPts val="2475"/>
              </a:spcBef>
            </a:pPr>
            <a:r>
              <a:rPr dirty="0" sz="2450">
                <a:solidFill>
                  <a:srgbClr val="363636"/>
                </a:solidFill>
                <a:latin typeface="Calibri"/>
                <a:cs typeface="Calibri"/>
              </a:rPr>
              <a:t>Rolling</a:t>
            </a:r>
            <a:r>
              <a:rPr dirty="0" sz="2450" spc="-17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B3B3B"/>
                </a:solidFill>
                <a:latin typeface="Calibri"/>
                <a:cs typeface="Calibri"/>
              </a:rPr>
              <a:t>Sharpe</a:t>
            </a:r>
            <a:r>
              <a:rPr dirty="0" sz="2450" spc="-1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43434"/>
                </a:solidFill>
                <a:latin typeface="Calibri"/>
                <a:cs typeface="Calibri"/>
              </a:rPr>
              <a:t>Ratio:</a:t>
            </a:r>
            <a:r>
              <a:rPr dirty="0" sz="2450" spc="-16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63636"/>
                </a:solidFill>
                <a:latin typeface="Calibri"/>
                <a:cs typeface="Calibri"/>
              </a:rPr>
              <a:t>Tracking</a:t>
            </a:r>
            <a:r>
              <a:rPr dirty="0" sz="2450" spc="-9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13131"/>
                </a:solidFill>
                <a:latin typeface="Calibri"/>
                <a:cs typeface="Calibri"/>
              </a:rPr>
              <a:t>risk-</a:t>
            </a:r>
            <a:r>
              <a:rPr dirty="0" sz="2450" spc="-30">
                <a:solidFill>
                  <a:srgbClr val="313131"/>
                </a:solidFill>
                <a:latin typeface="Calibri"/>
                <a:cs typeface="Calibri"/>
              </a:rPr>
              <a:t>adjusted</a:t>
            </a:r>
            <a:r>
              <a:rPr dirty="0" sz="2450" spc="1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2F2F2F"/>
                </a:solidFill>
                <a:latin typeface="Calibri"/>
                <a:cs typeface="Calibri"/>
              </a:rPr>
              <a:t>returns</a:t>
            </a:r>
            <a:r>
              <a:rPr dirty="0" sz="2450" spc="-2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2F2F2F"/>
                </a:solidFill>
                <a:latin typeface="Calibri"/>
                <a:cs typeface="Calibri"/>
              </a:rPr>
              <a:t>over</a:t>
            </a:r>
            <a:r>
              <a:rPr dirty="0" sz="2450" spc="-10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65">
                <a:solidFill>
                  <a:srgbClr val="383838"/>
                </a:solidFill>
                <a:latin typeface="Calibri"/>
                <a:cs typeface="Calibri"/>
              </a:rPr>
              <a:t>a</a:t>
            </a:r>
            <a:r>
              <a:rPr dirty="0" sz="2450" spc="-25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33333"/>
                </a:solidFill>
                <a:latin typeface="Calibri"/>
                <a:cs typeface="Calibri"/>
              </a:rPr>
              <a:t>rolling </a:t>
            </a:r>
            <a:r>
              <a:rPr dirty="0" sz="2450" spc="-65">
                <a:solidFill>
                  <a:srgbClr val="363636"/>
                </a:solidFill>
                <a:latin typeface="Calibri"/>
                <a:cs typeface="Calibri"/>
              </a:rPr>
              <a:t>90-</a:t>
            </a:r>
            <a:r>
              <a:rPr dirty="0" sz="2450" spc="-70">
                <a:solidFill>
                  <a:srgbClr val="363636"/>
                </a:solidFill>
                <a:latin typeface="Calibri"/>
                <a:cs typeface="Calibri"/>
              </a:rPr>
              <a:t>day</a:t>
            </a:r>
            <a:r>
              <a:rPr dirty="0" sz="2450" spc="-15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33333"/>
                </a:solidFill>
                <a:latin typeface="Calibri"/>
                <a:cs typeface="Calibri"/>
              </a:rPr>
              <a:t>window</a:t>
            </a:r>
            <a:r>
              <a:rPr dirty="0" sz="2450" spc="-3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33333"/>
                </a:solidFill>
                <a:latin typeface="Calibri"/>
                <a:cs typeface="Calibri"/>
              </a:rPr>
              <a:t>to</a:t>
            </a:r>
            <a:r>
              <a:rPr dirty="0" sz="2450" spc="-229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363636"/>
                </a:solidFill>
                <a:latin typeface="Calibri"/>
                <a:cs typeface="Calibri"/>
              </a:rPr>
              <a:t>evaluate</a:t>
            </a:r>
            <a:r>
              <a:rPr dirty="0" sz="2450" spc="-16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F2F2F"/>
                </a:solidFill>
                <a:latin typeface="Calibri"/>
                <a:cs typeface="Calibri"/>
              </a:rPr>
              <a:t>consistency.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42379" y="6384622"/>
            <a:ext cx="314325" cy="314325"/>
            <a:chOff x="942379" y="6384622"/>
            <a:chExt cx="314325" cy="3143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379" y="6384622"/>
              <a:ext cx="274860" cy="15706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1645" y="6541685"/>
              <a:ext cx="274860" cy="157063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897543" y="5607159"/>
            <a:ext cx="5630718" cy="45548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897543" y="7751072"/>
            <a:ext cx="5662131" cy="4868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905396" y="3455392"/>
            <a:ext cx="424070" cy="50260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96941" y="3471098"/>
            <a:ext cx="455483" cy="47118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135603" y="3518217"/>
            <a:ext cx="408364" cy="486896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632504" y="1078889"/>
            <a:ext cx="81280" cy="9683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150" spc="-1025">
                <a:solidFill>
                  <a:srgbClr val="67A0FF"/>
                </a:solidFill>
                <a:latin typeface="Calibri"/>
                <a:cs typeface="Calibri"/>
              </a:rPr>
              <a:t>i</a:t>
            </a:r>
            <a:endParaRPr sz="6150">
              <a:latin typeface="Calibri"/>
              <a:cs typeface="Calibri"/>
            </a:endParaRPr>
          </a:p>
        </p:txBody>
      </p: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532765">
              <a:lnSpc>
                <a:spcPct val="100000"/>
              </a:lnSpc>
              <a:spcBef>
                <a:spcPts val="130"/>
              </a:spcBef>
            </a:pPr>
            <a:r>
              <a:rPr dirty="0" sz="6150" spc="-45">
                <a:solidFill>
                  <a:srgbClr val="1D3B87"/>
                </a:solidFill>
              </a:rPr>
              <a:t>Deep</a:t>
            </a:r>
            <a:r>
              <a:rPr dirty="0" sz="6150" spc="-484">
                <a:solidFill>
                  <a:srgbClr val="1D3B87"/>
                </a:solidFill>
              </a:rPr>
              <a:t> </a:t>
            </a:r>
            <a:r>
              <a:rPr dirty="0" sz="6150">
                <a:solidFill>
                  <a:srgbClr val="1D3A8E"/>
                </a:solidFill>
              </a:rPr>
              <a:t>Investor</a:t>
            </a:r>
            <a:r>
              <a:rPr dirty="0" sz="6150" spc="-185">
                <a:solidFill>
                  <a:srgbClr val="1D3A8E"/>
                </a:solidFill>
              </a:rPr>
              <a:t> </a:t>
            </a:r>
            <a:r>
              <a:rPr dirty="0" sz="6150" spc="-10">
                <a:solidFill>
                  <a:srgbClr val="1D3A8E"/>
                </a:solidFill>
              </a:rPr>
              <a:t>Intelligence</a:t>
            </a:r>
            <a:endParaRPr sz="6150"/>
          </a:p>
        </p:txBody>
      </p:sp>
      <p:sp>
        <p:nvSpPr>
          <p:cNvPr id="12" name="object 12"/>
          <p:cNvSpPr txBox="1"/>
          <p:nvPr/>
        </p:nvSpPr>
        <p:spPr>
          <a:xfrm>
            <a:off x="920591" y="4167801"/>
            <a:ext cx="7889240" cy="295148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4100" spc="110">
                <a:solidFill>
                  <a:srgbClr val="1D48AA"/>
                </a:solidFill>
                <a:latin typeface="Calibri"/>
                <a:cs typeface="Calibri"/>
              </a:rPr>
              <a:t>Cohort</a:t>
            </a:r>
            <a:r>
              <a:rPr dirty="0" sz="4100" spc="180">
                <a:solidFill>
                  <a:srgbClr val="1D48AA"/>
                </a:solidFill>
                <a:latin typeface="Calibri"/>
                <a:cs typeface="Calibri"/>
              </a:rPr>
              <a:t> </a:t>
            </a:r>
            <a:r>
              <a:rPr dirty="0" sz="4100" spc="-240" b="1">
                <a:solidFill>
                  <a:srgbClr val="133DA1"/>
                </a:solidFill>
                <a:latin typeface="Calibri"/>
                <a:cs typeface="Calibri"/>
              </a:rPr>
              <a:t>&amp;</a:t>
            </a:r>
            <a:r>
              <a:rPr dirty="0" sz="4100" spc="-170" b="1">
                <a:solidFill>
                  <a:srgbClr val="133DA1"/>
                </a:solidFill>
                <a:latin typeface="Calibri"/>
                <a:cs typeface="Calibri"/>
              </a:rPr>
              <a:t> </a:t>
            </a:r>
            <a:r>
              <a:rPr dirty="0" sz="4100" spc="90" b="1">
                <a:solidFill>
                  <a:srgbClr val="213FB3"/>
                </a:solidFill>
                <a:latin typeface="Calibri"/>
                <a:cs typeface="Calibri"/>
              </a:rPr>
              <a:t>Continuity</a:t>
            </a:r>
            <a:endParaRPr sz="4100">
              <a:latin typeface="Calibri"/>
              <a:cs typeface="Calibri"/>
            </a:endParaRPr>
          </a:p>
          <a:p>
            <a:pPr marL="641985" marR="136525" indent="635">
              <a:lnSpc>
                <a:spcPct val="113599"/>
              </a:lnSpc>
              <a:spcBef>
                <a:spcPts val="2265"/>
              </a:spcBef>
            </a:pPr>
            <a:r>
              <a:rPr dirty="0" sz="2450" spc="-10">
                <a:solidFill>
                  <a:srgbClr val="383838"/>
                </a:solidFill>
                <a:latin typeface="Calibri"/>
                <a:cs typeface="Calibri"/>
              </a:rPr>
              <a:t>Cohort</a:t>
            </a:r>
            <a:r>
              <a:rPr dirty="0" sz="2450" spc="-4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33333"/>
                </a:solidFill>
                <a:latin typeface="Calibri"/>
                <a:cs typeface="Calibri"/>
              </a:rPr>
              <a:t>Analysis:</a:t>
            </a:r>
            <a:r>
              <a:rPr dirty="0" sz="2450" spc="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13131"/>
                </a:solidFill>
                <a:latin typeface="Calibri"/>
                <a:cs typeface="Calibri"/>
              </a:rPr>
              <a:t>Grouping</a:t>
            </a:r>
            <a:r>
              <a:rPr dirty="0" sz="2450" spc="-12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13131"/>
                </a:solidFill>
                <a:latin typeface="Calibri"/>
                <a:cs typeface="Calibri"/>
              </a:rPr>
              <a:t>investors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A2A2A"/>
                </a:solidFill>
                <a:latin typeface="Calibri"/>
                <a:cs typeface="Calibri"/>
              </a:rPr>
              <a:t>by</a:t>
            </a:r>
            <a:r>
              <a:rPr dirty="0" sz="2450" spc="-21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63636"/>
                </a:solidFill>
                <a:latin typeface="Calibri"/>
                <a:cs typeface="Calibri"/>
              </a:rPr>
              <a:t>entry</a:t>
            </a:r>
            <a:r>
              <a:rPr dirty="0" sz="2450" spc="-13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343434"/>
                </a:solidFill>
                <a:latin typeface="Calibri"/>
                <a:cs typeface="Calibri"/>
              </a:rPr>
              <a:t>year</a:t>
            </a:r>
            <a:r>
              <a:rPr dirty="0" sz="2450" spc="-10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13131"/>
                </a:solidFill>
                <a:latin typeface="Calibri"/>
                <a:cs typeface="Calibri"/>
              </a:rPr>
              <a:t>to</a:t>
            </a:r>
            <a:r>
              <a:rPr dirty="0" sz="2450" spc="-14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13131"/>
                </a:solidFill>
                <a:latin typeface="Calibri"/>
                <a:cs typeface="Calibri"/>
              </a:rPr>
              <a:t>track </a:t>
            </a:r>
            <a:r>
              <a:rPr dirty="0" sz="2450" spc="-65">
                <a:solidFill>
                  <a:srgbClr val="2F2F2F"/>
                </a:solidFill>
                <a:latin typeface="Calibri"/>
                <a:cs typeface="Calibri"/>
              </a:rPr>
              <a:t>behavior</a:t>
            </a:r>
            <a:r>
              <a:rPr dirty="0" sz="2450" spc="-35">
                <a:solidFill>
                  <a:srgbClr val="2F2F2F"/>
                </a:solidFill>
                <a:latin typeface="Calibri"/>
                <a:cs typeface="Calibri"/>
              </a:rPr>
              <a:t> evolution</a:t>
            </a:r>
            <a:r>
              <a:rPr dirty="0" sz="2450" spc="-5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333333"/>
                </a:solidFill>
                <a:latin typeface="Calibri"/>
                <a:cs typeface="Calibri"/>
              </a:rPr>
              <a:t>and</a:t>
            </a:r>
            <a:r>
              <a:rPr dirty="0" sz="2450" spc="-2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retention.</a:t>
            </a:r>
            <a:endParaRPr sz="2450">
              <a:latin typeface="Calibri"/>
              <a:cs typeface="Calibri"/>
            </a:endParaRPr>
          </a:p>
          <a:p>
            <a:pPr marL="645160" marR="5080" indent="1270">
              <a:lnSpc>
                <a:spcPct val="113599"/>
              </a:lnSpc>
              <a:spcBef>
                <a:spcPts val="2475"/>
              </a:spcBef>
            </a:pPr>
            <a:r>
              <a:rPr dirty="0" sz="2450">
                <a:solidFill>
                  <a:srgbClr val="2F4959"/>
                </a:solidFill>
                <a:latin typeface="Calibri"/>
                <a:cs typeface="Calibri"/>
              </a:rPr>
              <a:t>SIP</a:t>
            </a:r>
            <a:r>
              <a:rPr dirty="0" sz="2450" spc="185">
                <a:solidFill>
                  <a:srgbClr val="2F4959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63636"/>
                </a:solidFill>
                <a:latin typeface="Calibri"/>
                <a:cs typeface="Calibri"/>
              </a:rPr>
              <a:t>Continuity:</a:t>
            </a:r>
            <a:r>
              <a:rPr dirty="0" sz="2450" spc="-9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2F2F2F"/>
                </a:solidFill>
                <a:latin typeface="Calibri"/>
                <a:cs typeface="Calibri"/>
              </a:rPr>
              <a:t>Mapping</a:t>
            </a:r>
            <a:r>
              <a:rPr dirty="0" sz="2450" spc="-6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2450" spc="-24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242424"/>
                </a:solidFill>
                <a:latin typeface="Calibri"/>
                <a:cs typeface="Calibri"/>
              </a:rPr>
              <a:t>lifespan</a:t>
            </a:r>
            <a:r>
              <a:rPr dirty="0" sz="2450" spc="-114">
                <a:solidFill>
                  <a:srgbClr val="242424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333333"/>
                </a:solidFill>
                <a:latin typeface="Calibri"/>
                <a:cs typeface="Calibri"/>
              </a:rPr>
              <a:t>of</a:t>
            </a:r>
            <a:r>
              <a:rPr dirty="0" sz="2450" spc="-1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2F2F2F"/>
                </a:solidFill>
                <a:latin typeface="Calibri"/>
                <a:cs typeface="Calibri"/>
              </a:rPr>
              <a:t>systematic</a:t>
            </a:r>
            <a:r>
              <a:rPr dirty="0" sz="2450" spc="-8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62626"/>
                </a:solidFill>
                <a:latin typeface="Calibri"/>
                <a:cs typeface="Calibri"/>
              </a:rPr>
              <a:t>plans </a:t>
            </a:r>
            <a:r>
              <a:rPr dirty="0" sz="2450" spc="-25">
                <a:solidFill>
                  <a:srgbClr val="343434"/>
                </a:solidFill>
                <a:latin typeface="Calibri"/>
                <a:cs typeface="Calibri"/>
              </a:rPr>
              <a:t>to </a:t>
            </a:r>
            <a:r>
              <a:rPr dirty="0" sz="2450" spc="-30">
                <a:solidFill>
                  <a:srgbClr val="343434"/>
                </a:solidFill>
                <a:latin typeface="Calibri"/>
                <a:cs typeface="Calibri"/>
              </a:rPr>
              <a:t>identify</a:t>
            </a:r>
            <a:r>
              <a:rPr dirty="0" sz="2450" spc="-11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65">
                <a:solidFill>
                  <a:srgbClr val="2F2F2F"/>
                </a:solidFill>
                <a:latin typeface="Calibri"/>
                <a:cs typeface="Calibri"/>
              </a:rPr>
              <a:t>churn-prone </a:t>
            </a:r>
            <a:r>
              <a:rPr dirty="0" sz="2450" spc="-10">
                <a:solidFill>
                  <a:srgbClr val="2A2A2A"/>
                </a:solidFill>
                <a:latin typeface="Calibri"/>
                <a:cs typeface="Calibri"/>
              </a:rPr>
              <a:t>demographics.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1525" y="7407885"/>
            <a:ext cx="7710170" cy="873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30530" marR="5080" indent="-418465">
              <a:lnSpc>
                <a:spcPct val="113599"/>
              </a:lnSpc>
              <a:spcBef>
                <a:spcPts val="100"/>
              </a:spcBef>
              <a:tabLst>
                <a:tab pos="423545" algn="l"/>
              </a:tabLst>
            </a:pPr>
            <a:r>
              <a:rPr dirty="0" sz="2450" spc="-25">
                <a:solidFill>
                  <a:srgbClr val="62A3FB"/>
                </a:solidFill>
                <a:latin typeface="Calibri"/>
                <a:cs typeface="Calibri"/>
              </a:rPr>
              <a:t>g,</a:t>
            </a:r>
            <a:r>
              <a:rPr dirty="0" sz="2450">
                <a:solidFill>
                  <a:srgbClr val="62A3FB"/>
                </a:solidFill>
                <a:latin typeface="Calibri"/>
                <a:cs typeface="Calibri"/>
              </a:rPr>
              <a:t>	</a:t>
            </a:r>
            <a:r>
              <a:rPr dirty="0" sz="2450" spc="50">
                <a:solidFill>
                  <a:srgbClr val="343434"/>
                </a:solidFill>
                <a:latin typeface="Calibri"/>
                <a:cs typeface="Calibri"/>
              </a:rPr>
              <a:t>At-</a:t>
            </a:r>
            <a:r>
              <a:rPr dirty="0" sz="2450" spc="55">
                <a:solidFill>
                  <a:srgbClr val="343434"/>
                </a:solidFill>
                <a:latin typeface="Calibri"/>
                <a:cs typeface="Calibri"/>
              </a:rPr>
              <a:t>Risk</a:t>
            </a:r>
            <a:r>
              <a:rPr dirty="0" sz="2450" spc="-2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F3F3F"/>
                </a:solidFill>
                <a:latin typeface="Calibri"/>
                <a:cs typeface="Calibri"/>
              </a:rPr>
              <a:t>Identification:</a:t>
            </a:r>
            <a:r>
              <a:rPr dirty="0" sz="2450" spc="-254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333333"/>
                </a:solidFill>
                <a:latin typeface="Calibri"/>
                <a:cs typeface="Calibri"/>
              </a:rPr>
              <a:t>Segmenting</a:t>
            </a:r>
            <a:r>
              <a:rPr dirty="0" sz="2450" spc="-1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63636"/>
                </a:solidFill>
                <a:latin typeface="Calibri"/>
                <a:cs typeface="Calibri"/>
              </a:rPr>
              <a:t>the</a:t>
            </a:r>
            <a:r>
              <a:rPr dirty="0" sz="2450" spc="-27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83838"/>
                </a:solidFill>
                <a:latin typeface="Calibri"/>
                <a:cs typeface="Calibri"/>
              </a:rPr>
              <a:t>investor</a:t>
            </a:r>
            <a:r>
              <a:rPr dirty="0" sz="2450" spc="-6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13131"/>
                </a:solidFill>
                <a:latin typeface="Calibri"/>
                <a:cs typeface="Calibri"/>
              </a:rPr>
              <a:t>base</a:t>
            </a:r>
            <a:r>
              <a:rPr dirty="0" sz="2450" spc="-17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83838"/>
                </a:solidFill>
                <a:latin typeface="Calibri"/>
                <a:cs typeface="Calibri"/>
              </a:rPr>
              <a:t>to</a:t>
            </a:r>
            <a:r>
              <a:rPr dirty="0" sz="2450" spc="-2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63636"/>
                </a:solidFill>
                <a:latin typeface="Calibri"/>
                <a:cs typeface="Calibri"/>
              </a:rPr>
              <a:t>find </a:t>
            </a:r>
            <a:r>
              <a:rPr dirty="0" sz="2450" spc="-75">
                <a:solidFill>
                  <a:srgbClr val="313131"/>
                </a:solidFill>
                <a:latin typeface="Calibri"/>
                <a:cs typeface="Calibri"/>
              </a:rPr>
              <a:t>accounts</a:t>
            </a:r>
            <a:r>
              <a:rPr dirty="0" sz="2450" spc="2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83838"/>
                </a:solidFill>
                <a:latin typeface="Calibri"/>
                <a:cs typeface="Calibri"/>
              </a:rPr>
              <a:t>with</a:t>
            </a:r>
            <a:r>
              <a:rPr dirty="0" sz="2450" spc="-20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2F2F2F"/>
                </a:solidFill>
                <a:latin typeface="Calibri"/>
                <a:cs typeface="Calibri"/>
              </a:rPr>
              <a:t>highest</a:t>
            </a:r>
            <a:r>
              <a:rPr dirty="0" sz="2450" spc="-8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313131"/>
                </a:solidFill>
                <a:latin typeface="Calibri"/>
                <a:cs typeface="Calibri"/>
              </a:rPr>
              <a:t>redemption</a:t>
            </a:r>
            <a:r>
              <a:rPr dirty="0" sz="2450" spc="-5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D2D2D"/>
                </a:solidFill>
                <a:latin typeface="Calibri"/>
                <a:cs typeface="Calibri"/>
              </a:rPr>
              <a:t>probability.</a:t>
            </a:r>
            <a:endParaRPr sz="245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0932021" y="4094389"/>
          <a:ext cx="7705090" cy="10896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8715"/>
                <a:gridCol w="2700019"/>
                <a:gridCol w="2508884"/>
              </a:tblGrid>
              <a:tr h="250825">
                <a:tc>
                  <a:txBody>
                    <a:bodyPr/>
                    <a:lstStyle/>
                    <a:p>
                      <a:pPr algn="ctr" marR="62865">
                        <a:lnSpc>
                          <a:spcPts val="1710"/>
                        </a:lnSpc>
                      </a:pPr>
                      <a:r>
                        <a:rPr dirty="0" sz="1550" spc="-110">
                          <a:solidFill>
                            <a:srgbClr val="0C8ED4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dirty="0" sz="1550" spc="-114">
                          <a:solidFill>
                            <a:srgbClr val="0C8ED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75">
                          <a:solidFill>
                            <a:srgbClr val="2690DD"/>
                          </a:solidFill>
                          <a:latin typeface="Arial"/>
                          <a:cs typeface="Arial"/>
                        </a:rPr>
                        <a:t>surface-</a:t>
                      </a:r>
                      <a:r>
                        <a:rPr dirty="0" sz="1550" spc="-60">
                          <a:solidFill>
                            <a:srgbClr val="2690DD"/>
                          </a:solidFill>
                          <a:latin typeface="Arial"/>
                          <a:cs typeface="Arial"/>
                        </a:rPr>
                        <a:t>Level</a:t>
                      </a:r>
                      <a:r>
                        <a:rPr dirty="0" sz="1550" spc="40">
                          <a:solidFill>
                            <a:srgbClr val="2690D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36A3D4"/>
                          </a:solidFill>
                          <a:latin typeface="Arial"/>
                          <a:cs typeface="Arial"/>
                        </a:rPr>
                        <a:t>Categories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31115">
                        <a:lnSpc>
                          <a:spcPts val="1710"/>
                        </a:lnSpc>
                      </a:pPr>
                      <a:r>
                        <a:rPr dirty="0" sz="1550" spc="-40">
                          <a:solidFill>
                            <a:srgbClr val="0395E1"/>
                          </a:solidFill>
                          <a:latin typeface="Arial"/>
                          <a:cs typeface="Arial"/>
                        </a:rPr>
                        <a:t>Adaptability</a:t>
                      </a:r>
                      <a:r>
                        <a:rPr dirty="0" sz="1550" spc="-10">
                          <a:solidFill>
                            <a:srgbClr val="0395E1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>
                          <a:solidFill>
                            <a:srgbClr val="4FACE4"/>
                          </a:solidFill>
                          <a:latin typeface="Arial"/>
                          <a:cs typeface="Arial"/>
                        </a:rPr>
                        <a:t>to</a:t>
                      </a:r>
                      <a:r>
                        <a:rPr dirty="0" sz="1550" spc="-180">
                          <a:solidFill>
                            <a:srgbClr val="4FACE4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0F93E2"/>
                          </a:solidFill>
                          <a:latin typeface="Arial"/>
                          <a:cs typeface="Arial"/>
                        </a:rPr>
                        <a:t>Investors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40005">
                        <a:lnSpc>
                          <a:spcPts val="1710"/>
                        </a:lnSpc>
                      </a:pPr>
                      <a:r>
                        <a:rPr dirty="0" sz="1550" spc="-100">
                          <a:solidFill>
                            <a:srgbClr val="168EE9"/>
                          </a:solidFill>
                          <a:latin typeface="Arial"/>
                          <a:cs typeface="Arial"/>
                        </a:rPr>
                        <a:t>Builds</a:t>
                      </a:r>
                      <a:r>
                        <a:rPr dirty="0" sz="1550" spc="-25">
                          <a:solidFill>
                            <a:srgbClr val="168EE9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85">
                          <a:solidFill>
                            <a:srgbClr val="0091DD"/>
                          </a:solidFill>
                          <a:latin typeface="Arial"/>
                          <a:cs typeface="Arial"/>
                        </a:rPr>
                        <a:t>Emotional</a:t>
                      </a:r>
                      <a:r>
                        <a:rPr dirty="0" sz="1550" spc="-45">
                          <a:solidFill>
                            <a:srgbClr val="0091D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solidFill>
                            <a:srgbClr val="1F85B5"/>
                          </a:solidFill>
                          <a:latin typeface="Arial"/>
                          <a:cs typeface="Arial"/>
                        </a:rPr>
                        <a:t>Connection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</a:tr>
              <a:tr h="290195">
                <a:tc>
                  <a:txBody>
                    <a:bodyPr/>
                    <a:lstStyle/>
                    <a:p>
                      <a:pPr algn="ctr" marR="64769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550" spc="-100">
                          <a:latin typeface="Arial"/>
                          <a:cs typeface="Arial"/>
                        </a:rPr>
                        <a:t>Uncovers</a:t>
                      </a:r>
                      <a:r>
                        <a:rPr dirty="0" sz="155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latin typeface="Arial"/>
                          <a:cs typeface="Arial"/>
                        </a:rPr>
                        <a:t>motivations,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 algn="ctr" marL="349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550" spc="-100">
                          <a:latin typeface="Arial"/>
                          <a:cs typeface="Arial"/>
                        </a:rPr>
                        <a:t>Considers</a:t>
                      </a:r>
                      <a:r>
                        <a:rPr dirty="0" sz="155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latin typeface="Arial"/>
                          <a:cs typeface="Arial"/>
                        </a:rPr>
                        <a:t>life</a:t>
                      </a:r>
                      <a:r>
                        <a:rPr dirty="0" sz="1550" spc="-1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95">
                          <a:latin typeface="Arial"/>
                          <a:cs typeface="Arial"/>
                        </a:rPr>
                        <a:t>moments,</a:t>
                      </a:r>
                      <a:r>
                        <a:rPr dirty="0" sz="155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latin typeface="Arial"/>
                          <a:cs typeface="Arial"/>
                        </a:rPr>
                        <a:t>trends.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 algn="ctr" marL="32384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1550" spc="-100">
                          <a:latin typeface="Arial"/>
                          <a:cs typeface="Arial"/>
                        </a:rPr>
                        <a:t>Builds</a:t>
                      </a:r>
                      <a:r>
                        <a:rPr dirty="0" sz="155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latin typeface="Arial"/>
                          <a:cs typeface="Arial"/>
                        </a:rPr>
                        <a:t>trust</a:t>
                      </a:r>
                      <a:r>
                        <a:rPr dirty="0" sz="155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14">
                          <a:latin typeface="Arial"/>
                          <a:cs typeface="Arial"/>
                        </a:rPr>
                        <a:t>by</a:t>
                      </a:r>
                      <a:r>
                        <a:rPr dirty="0" sz="1550" spc="-1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latin typeface="Arial"/>
                          <a:cs typeface="Arial"/>
                        </a:rPr>
                        <a:t>integrating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2065"/>
                </a:tc>
              </a:tr>
              <a:tr h="294005">
                <a:tc>
                  <a:txBody>
                    <a:bodyPr/>
                    <a:lstStyle/>
                    <a:p>
                      <a:pPr algn="ctr" marR="628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550" spc="-95">
                          <a:latin typeface="Arial"/>
                          <a:cs typeface="Arial"/>
                        </a:rPr>
                        <a:t>emotions.</a:t>
                      </a:r>
                      <a:r>
                        <a:rPr dirty="0" sz="1550" spc="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65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550" spc="-10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latin typeface="Arial"/>
                          <a:cs typeface="Arial"/>
                        </a:rPr>
                        <a:t>behaviors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algn="ctr" marL="3048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550" spc="-35">
                          <a:latin typeface="Arial"/>
                          <a:cs typeface="Arial"/>
                        </a:rPr>
                        <a:t>ond</a:t>
                      </a:r>
                      <a:r>
                        <a:rPr dirty="0" sz="155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50">
                          <a:latin typeface="Arial"/>
                          <a:cs typeface="Arial"/>
                        </a:rPr>
                        <a:t>shifting</a:t>
                      </a:r>
                      <a:r>
                        <a:rPr dirty="0" sz="155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55">
                          <a:latin typeface="Arial"/>
                          <a:cs typeface="Arial"/>
                        </a:rPr>
                        <a:t>priorities</a:t>
                      </a:r>
                      <a:r>
                        <a:rPr dirty="0" sz="155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55">
                          <a:latin typeface="Arial"/>
                          <a:cs typeface="Arial"/>
                        </a:rPr>
                        <a:t>instead</a:t>
                      </a:r>
                      <a:r>
                        <a:rPr dirty="0" sz="155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5">
                          <a:latin typeface="Arial"/>
                          <a:cs typeface="Arial"/>
                        </a:rPr>
                        <a:t>of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  <a:tc>
                  <a:txBody>
                    <a:bodyPr/>
                    <a:lstStyle/>
                    <a:p>
                      <a:pPr algn="ctr" marL="4000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550" spc="-85">
                          <a:latin typeface="Arial"/>
                          <a:cs typeface="Arial"/>
                        </a:rPr>
                        <a:t>emotions</a:t>
                      </a:r>
                      <a:r>
                        <a:rPr dirty="0" sz="1550" spc="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65">
                          <a:latin typeface="Arial"/>
                          <a:cs typeface="Arial"/>
                        </a:rPr>
                        <a:t>and</a:t>
                      </a:r>
                      <a:r>
                        <a:rPr dirty="0" sz="1550" spc="-1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55">
                          <a:latin typeface="Arial"/>
                          <a:cs typeface="Arial"/>
                        </a:rPr>
                        <a:t>cognitive</a:t>
                      </a:r>
                      <a:r>
                        <a:rPr dirty="0" sz="155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latin typeface="Arial"/>
                          <a:cs typeface="Arial"/>
                        </a:rPr>
                        <a:t>biases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20320"/>
                </a:tc>
              </a:tr>
              <a:tr h="254635">
                <a:tc>
                  <a:txBody>
                    <a:bodyPr/>
                    <a:lstStyle/>
                    <a:p>
                      <a:pPr algn="ctr" marR="77470">
                        <a:lnSpc>
                          <a:spcPts val="1780"/>
                        </a:lnSpc>
                        <a:spcBef>
                          <a:spcPts val="130"/>
                        </a:spcBef>
                      </a:pPr>
                      <a:r>
                        <a:rPr dirty="0" sz="1550" spc="-50">
                          <a:latin typeface="Arial"/>
                          <a:cs typeface="Arial"/>
                        </a:rPr>
                        <a:t>other</a:t>
                      </a:r>
                      <a:r>
                        <a:rPr dirty="0" sz="1550" spc="-6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5">
                          <a:latin typeface="Arial"/>
                          <a:cs typeface="Arial"/>
                        </a:rPr>
                        <a:t>than</a:t>
                      </a:r>
                      <a:r>
                        <a:rPr dirty="0" sz="1550" spc="-1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latin typeface="Arial"/>
                          <a:cs typeface="Arial"/>
                        </a:rPr>
                        <a:t>demographics.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6510"/>
                </a:tc>
                <a:tc>
                  <a:txBody>
                    <a:bodyPr/>
                    <a:lstStyle/>
                    <a:p>
                      <a:pPr algn="ctr" marL="31750">
                        <a:lnSpc>
                          <a:spcPts val="1780"/>
                        </a:lnSpc>
                        <a:spcBef>
                          <a:spcPts val="130"/>
                        </a:spcBef>
                      </a:pPr>
                      <a:r>
                        <a:rPr dirty="0" sz="1550" spc="-80">
                          <a:latin typeface="Arial"/>
                          <a:cs typeface="Arial"/>
                        </a:rPr>
                        <a:t>relying</a:t>
                      </a:r>
                      <a:r>
                        <a:rPr dirty="0" sz="1550" spc="-8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80"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550" spc="-10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0">
                          <a:latin typeface="Arial"/>
                          <a:cs typeface="Arial"/>
                        </a:rPr>
                        <a:t>static</a:t>
                      </a:r>
                      <a:r>
                        <a:rPr dirty="0" sz="155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20">
                          <a:latin typeface="Arial"/>
                          <a:cs typeface="Arial"/>
                        </a:rPr>
                        <a:t>modelG.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6510"/>
                </a:tc>
                <a:tc>
                  <a:txBody>
                    <a:bodyPr/>
                    <a:lstStyle/>
                    <a:p>
                      <a:pPr algn="ctr" marL="40640">
                        <a:lnSpc>
                          <a:spcPts val="1780"/>
                        </a:lnSpc>
                        <a:spcBef>
                          <a:spcPts val="130"/>
                        </a:spcBef>
                      </a:pPr>
                      <a:r>
                        <a:rPr dirty="0" sz="1550" spc="-25">
                          <a:latin typeface="Arial"/>
                          <a:cs typeface="Arial"/>
                        </a:rPr>
                        <a:t>into</a:t>
                      </a:r>
                      <a:r>
                        <a:rPr dirty="0" sz="1550" spc="-9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550" spc="-10">
                          <a:latin typeface="Arial"/>
                          <a:cs typeface="Arial"/>
                        </a:rPr>
                        <a:t>strategies.</a:t>
                      </a:r>
                      <a:endParaRPr sz="1550">
                        <a:latin typeface="Arial"/>
                        <a:cs typeface="Arial"/>
                      </a:endParaRPr>
                    </a:p>
                  </a:txBody>
                  <a:tcPr marL="0" marR="0" marB="0" marT="16510"/>
                </a:tc>
              </a:tr>
            </a:tbl>
          </a:graphicData>
        </a:graphic>
      </p:graphicFrame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10890446" y="6248664"/>
          <a:ext cx="7667625" cy="7931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6035"/>
                <a:gridCol w="2541269"/>
                <a:gridCol w="2484120"/>
              </a:tblGrid>
              <a:tr h="247650">
                <a:tc>
                  <a:txBody>
                    <a:bodyPr/>
                    <a:lstStyle/>
                    <a:p>
                      <a:pPr algn="ctr" marR="121285">
                        <a:lnSpc>
                          <a:spcPts val="1585"/>
                        </a:lnSpc>
                      </a:pPr>
                      <a:r>
                        <a:rPr dirty="0" sz="1650" spc="-45">
                          <a:solidFill>
                            <a:srgbClr val="34A3DB"/>
                          </a:solidFill>
                          <a:latin typeface="Calibri"/>
                          <a:cs typeface="Calibri"/>
                        </a:rPr>
                        <a:t>Personalization</a:t>
                      </a:r>
                      <a:r>
                        <a:rPr dirty="0" sz="1650" spc="-110">
                          <a:solidFill>
                            <a:srgbClr val="34A3D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>
                          <a:solidFill>
                            <a:srgbClr val="1199DB"/>
                          </a:solidFill>
                          <a:latin typeface="Calibri"/>
                          <a:cs typeface="Calibri"/>
                        </a:rPr>
                        <a:t>at</a:t>
                      </a:r>
                      <a:r>
                        <a:rPr dirty="0" sz="1650" spc="-10">
                          <a:solidFill>
                            <a:srgbClr val="1199D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>
                          <a:solidFill>
                            <a:srgbClr val="3699CA"/>
                          </a:solidFill>
                          <a:latin typeface="Calibri"/>
                          <a:cs typeface="Calibri"/>
                        </a:rPr>
                        <a:t>Soole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8255">
                        <a:lnSpc>
                          <a:spcPts val="1585"/>
                        </a:lnSpc>
                      </a:pPr>
                      <a:r>
                        <a:rPr dirty="0" sz="1650" spc="-50">
                          <a:solidFill>
                            <a:srgbClr val="1397EB"/>
                          </a:solidFill>
                          <a:latin typeface="Calibri"/>
                          <a:cs typeface="Calibri"/>
                        </a:rPr>
                        <a:t>Anticipmes</a:t>
                      </a:r>
                      <a:r>
                        <a:rPr dirty="0" sz="1650" spc="-30">
                          <a:solidFill>
                            <a:srgbClr val="1397EB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25">
                          <a:solidFill>
                            <a:srgbClr val="54A3ED"/>
                          </a:solidFill>
                          <a:latin typeface="Calibri"/>
                          <a:cs typeface="Calibri"/>
                        </a:rPr>
                        <a:t>Key</a:t>
                      </a:r>
                      <a:r>
                        <a:rPr dirty="0" sz="1650" spc="-80">
                          <a:solidFill>
                            <a:srgbClr val="54A3E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>
                          <a:solidFill>
                            <a:srgbClr val="2F9CEB"/>
                          </a:solidFill>
                          <a:latin typeface="Calibri"/>
                          <a:cs typeface="Calibri"/>
                        </a:rPr>
                        <a:t>diggers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0180">
                        <a:lnSpc>
                          <a:spcPts val="1585"/>
                        </a:lnSpc>
                      </a:pPr>
                      <a:r>
                        <a:rPr dirty="0" sz="1650" spc="-45">
                          <a:solidFill>
                            <a:srgbClr val="2D9CF4"/>
                          </a:solidFill>
                          <a:latin typeface="Calibri"/>
                          <a:cs typeface="Calibri"/>
                        </a:rPr>
                        <a:t>IquIti-</a:t>
                      </a:r>
                      <a:r>
                        <a:rPr dirty="0" sz="1650" spc="-55">
                          <a:solidFill>
                            <a:srgbClr val="2D9CF4"/>
                          </a:solidFill>
                          <a:latin typeface="Calibri"/>
                          <a:cs typeface="Calibri"/>
                        </a:rPr>
                        <a:t>oeneratlonal</a:t>
                      </a:r>
                      <a:r>
                        <a:rPr dirty="0" sz="1650" spc="-50">
                          <a:solidFill>
                            <a:srgbClr val="2D9CF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>
                          <a:solidFill>
                            <a:srgbClr val="1695BD"/>
                          </a:solidFill>
                          <a:latin typeface="Calibri"/>
                          <a:cs typeface="Calibri"/>
                        </a:rPr>
                        <a:t>Needs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90195">
                <a:tc>
                  <a:txBody>
                    <a:bodyPr/>
                    <a:lstStyle/>
                    <a:p>
                      <a:pPr algn="ctr" marR="134620">
                        <a:lnSpc>
                          <a:spcPts val="1860"/>
                        </a:lnSpc>
                      </a:pPr>
                      <a:r>
                        <a:rPr dirty="0" sz="1650" spc="-50">
                          <a:latin typeface="Calibri"/>
                          <a:cs typeface="Calibri"/>
                        </a:rPr>
                        <a:t>Tailors</a:t>
                      </a:r>
                      <a:r>
                        <a:rPr dirty="0" sz="165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25">
                          <a:latin typeface="Calibri"/>
                          <a:cs typeface="Calibri"/>
                        </a:rPr>
                        <a:t>strategies</a:t>
                      </a:r>
                      <a:r>
                        <a:rPr dirty="0" sz="1650" spc="-1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4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650" spc="-16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>
                          <a:latin typeface="Calibri"/>
                          <a:cs typeface="Calibri"/>
                        </a:rPr>
                        <a:t>individual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R="19685">
                        <a:lnSpc>
                          <a:spcPts val="1860"/>
                        </a:lnSpc>
                      </a:pPr>
                      <a:r>
                        <a:rPr dirty="0" sz="1650">
                          <a:latin typeface="Calibri"/>
                          <a:cs typeface="Calibri"/>
                        </a:rPr>
                        <a:t>Engages</a:t>
                      </a:r>
                      <a:r>
                        <a:rPr dirty="0" sz="1650" spc="-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60">
                          <a:latin typeface="Calibri"/>
                          <a:cs typeface="Calibri"/>
                        </a:rPr>
                        <a:t>proactively</a:t>
                      </a:r>
                      <a:r>
                        <a:rPr dirty="0" sz="1650" spc="-10">
                          <a:latin typeface="Calibri"/>
                          <a:cs typeface="Calibri"/>
                        </a:rPr>
                        <a:t> during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68275">
                        <a:lnSpc>
                          <a:spcPts val="1860"/>
                        </a:lnSpc>
                      </a:pPr>
                      <a:r>
                        <a:rPr dirty="0" sz="1650" spc="-20">
                          <a:latin typeface="Calibri"/>
                          <a:cs typeface="Calibri"/>
                        </a:rPr>
                        <a:t>Balances</a:t>
                      </a:r>
                      <a:r>
                        <a:rPr dirty="0" sz="165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50">
                          <a:latin typeface="Calibri"/>
                          <a:cs typeface="Calibri"/>
                        </a:rPr>
                        <a:t>differing</a:t>
                      </a:r>
                      <a:r>
                        <a:rPr dirty="0" sz="1650" spc="2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>
                          <a:latin typeface="Calibri"/>
                          <a:cs typeface="Calibri"/>
                        </a:rPr>
                        <a:t>priorities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algn="ctr" marR="128270">
                        <a:lnSpc>
                          <a:spcPts val="1910"/>
                        </a:lnSpc>
                      </a:pPr>
                      <a:r>
                        <a:rPr dirty="0" sz="1650" spc="-25">
                          <a:latin typeface="Calibri"/>
                          <a:cs typeface="Calibri"/>
                        </a:rPr>
                        <a:t>goals</a:t>
                      </a:r>
                      <a:r>
                        <a:rPr dirty="0" sz="1650" spc="-7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55">
                          <a:latin typeface="Calibri"/>
                          <a:cs typeface="Calibri"/>
                        </a:rPr>
                        <a:t>rother</a:t>
                      </a:r>
                      <a:r>
                        <a:rPr dirty="0" sz="1650" spc="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50">
                          <a:latin typeface="Calibri"/>
                          <a:cs typeface="Calibri"/>
                        </a:rPr>
                        <a:t>than</a:t>
                      </a:r>
                      <a:r>
                        <a:rPr dirty="0" sz="1650" spc="-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>
                          <a:latin typeface="Calibri"/>
                          <a:cs typeface="Calibri"/>
                        </a:rPr>
                        <a:t>offering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0"/>
                        </a:lnSpc>
                      </a:pPr>
                      <a:r>
                        <a:rPr dirty="0" sz="1650" spc="-65">
                          <a:latin typeface="Calibri"/>
                          <a:cs typeface="Calibri"/>
                        </a:rPr>
                        <a:t>pivotal</a:t>
                      </a:r>
                      <a:r>
                        <a:rPr dirty="0" sz="16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50">
                          <a:latin typeface="Calibri"/>
                          <a:cs typeface="Calibri"/>
                        </a:rPr>
                        <a:t>life</a:t>
                      </a:r>
                      <a:r>
                        <a:rPr dirty="0" sz="1650" spc="-1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95">
                          <a:latin typeface="Calibri"/>
                          <a:cs typeface="Calibri"/>
                        </a:rPr>
                        <a:t>moments</a:t>
                      </a:r>
                      <a:r>
                        <a:rPr dirty="0" sz="1650" spc="6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25">
                          <a:latin typeface="Calibri"/>
                          <a:cs typeface="Calibri"/>
                        </a:rPr>
                        <a:t>and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170180">
                        <a:lnSpc>
                          <a:spcPts val="1910"/>
                        </a:lnSpc>
                      </a:pPr>
                      <a:r>
                        <a:rPr dirty="0" sz="1650" spc="-60">
                          <a:latin typeface="Calibri"/>
                          <a:cs typeface="Calibri"/>
                        </a:rPr>
                        <a:t>ocros6</a:t>
                      </a:r>
                      <a:r>
                        <a:rPr dirty="0" sz="1650" spc="-35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50">
                          <a:latin typeface="Calibri"/>
                          <a:cs typeface="Calibri"/>
                        </a:rPr>
                        <a:t>generations</a:t>
                      </a:r>
                      <a:r>
                        <a:rPr dirty="0" sz="1650" spc="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40"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650" spc="-14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650" spc="-10">
                          <a:latin typeface="Calibri"/>
                          <a:cs typeface="Calibri"/>
                        </a:rPr>
                        <a:t>foster</a:t>
                      </a:r>
                      <a:endParaRPr sz="16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6" name="object 16"/>
          <p:cNvSpPr txBox="1"/>
          <p:nvPr/>
        </p:nvSpPr>
        <p:spPr>
          <a:xfrm>
            <a:off x="11400295" y="7062346"/>
            <a:ext cx="141033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30">
                <a:latin typeface="Calibri"/>
                <a:cs typeface="Calibri"/>
              </a:rPr>
              <a:t>generic</a:t>
            </a:r>
            <a:r>
              <a:rPr dirty="0" sz="1650" spc="-40">
                <a:latin typeface="Calibri"/>
                <a:cs typeface="Calibri"/>
              </a:rPr>
              <a:t> </a:t>
            </a:r>
            <a:r>
              <a:rPr dirty="0" sz="1650" spc="-65">
                <a:latin typeface="Calibri"/>
                <a:cs typeface="Calibri"/>
              </a:rPr>
              <a:t>solutions.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751776" y="7062346"/>
            <a:ext cx="1938020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55">
                <a:latin typeface="Calibri"/>
                <a:cs typeface="Calibri"/>
              </a:rPr>
              <a:t>decision-</a:t>
            </a:r>
            <a:r>
              <a:rPr dirty="0" sz="1650" spc="-60">
                <a:latin typeface="Calibri"/>
                <a:cs typeface="Calibri"/>
              </a:rPr>
              <a:t>making</a:t>
            </a:r>
            <a:r>
              <a:rPr dirty="0" sz="1650" spc="-15">
                <a:latin typeface="Calibri"/>
                <a:cs typeface="Calibri"/>
              </a:rPr>
              <a:t> </a:t>
            </a:r>
            <a:r>
              <a:rPr dirty="0" sz="1650" spc="-30">
                <a:latin typeface="Calibri"/>
                <a:cs typeface="Calibri"/>
              </a:rPr>
              <a:t>events.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036338" y="7062346"/>
            <a:ext cx="57213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75">
                <a:latin typeface="Calibri"/>
                <a:cs typeface="Calibri"/>
              </a:rPr>
              <a:t>loyalty.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0808174" y="8280241"/>
            <a:ext cx="2606675" cy="1191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8255">
              <a:lnSpc>
                <a:spcPct val="119800"/>
              </a:lnSpc>
              <a:spcBef>
                <a:spcPts val="95"/>
              </a:spcBef>
            </a:pPr>
            <a:r>
              <a:rPr dirty="0" sz="1550" spc="-40">
                <a:solidFill>
                  <a:srgbClr val="1C8AC1"/>
                </a:solidFill>
                <a:latin typeface="Calibri"/>
                <a:cs typeface="Calibri"/>
              </a:rPr>
              <a:t>Future-</a:t>
            </a:r>
            <a:r>
              <a:rPr dirty="0" sz="1550" spc="-30">
                <a:solidFill>
                  <a:srgbClr val="1C8AC1"/>
                </a:solidFill>
                <a:latin typeface="Calibri"/>
                <a:cs typeface="Calibri"/>
              </a:rPr>
              <a:t>l•roofing</a:t>
            </a:r>
            <a:r>
              <a:rPr dirty="0" sz="1550" spc="25">
                <a:solidFill>
                  <a:srgbClr val="1C8AC1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2AB8F7"/>
                </a:solidFill>
                <a:latin typeface="Calibri"/>
                <a:cs typeface="Calibri"/>
              </a:rPr>
              <a:t>Wends </a:t>
            </a:r>
            <a:r>
              <a:rPr dirty="0" sz="1550">
                <a:latin typeface="Calibri"/>
                <a:cs typeface="Calibri"/>
              </a:rPr>
              <a:t>Incorporates</a:t>
            </a:r>
            <a:r>
              <a:rPr dirty="0" sz="1550" spc="10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ESG,</a:t>
            </a:r>
            <a:r>
              <a:rPr dirty="0" sz="1550" spc="-1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digital</a:t>
            </a:r>
            <a:r>
              <a:rPr dirty="0" sz="1550" spc="2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assets, </a:t>
            </a:r>
            <a:r>
              <a:rPr dirty="0" sz="1650">
                <a:latin typeface="Times New Roman"/>
                <a:cs typeface="Times New Roman"/>
              </a:rPr>
              <a:t>end</a:t>
            </a:r>
            <a:r>
              <a:rPr dirty="0" sz="1650" spc="-95">
                <a:latin typeface="Times New Roman"/>
                <a:cs typeface="Times New Roman"/>
              </a:rPr>
              <a:t> </a:t>
            </a:r>
            <a:r>
              <a:rPr dirty="0" sz="1650" spc="-40">
                <a:latin typeface="Times New Roman"/>
                <a:cs typeface="Times New Roman"/>
              </a:rPr>
              <a:t>emerging</a:t>
            </a:r>
            <a:r>
              <a:rPr dirty="0" sz="1650" spc="5">
                <a:latin typeface="Times New Roman"/>
                <a:cs typeface="Times New Roman"/>
              </a:rPr>
              <a:t> </a:t>
            </a:r>
            <a:r>
              <a:rPr dirty="0" sz="1650" spc="-35">
                <a:latin typeface="Times New Roman"/>
                <a:cs typeface="Times New Roman"/>
              </a:rPr>
              <a:t>technologies</a:t>
            </a:r>
            <a:r>
              <a:rPr dirty="0" sz="1650" spc="-10">
                <a:latin typeface="Times New Roman"/>
                <a:cs typeface="Times New Roman"/>
              </a:rPr>
              <a:t> </a:t>
            </a:r>
            <a:r>
              <a:rPr dirty="0" sz="1650" spc="-25">
                <a:latin typeface="Times New Roman"/>
                <a:cs typeface="Times New Roman"/>
              </a:rPr>
              <a:t>to </a:t>
            </a:r>
            <a:r>
              <a:rPr dirty="0" sz="1650" spc="-65">
                <a:latin typeface="Times New Roman"/>
                <a:cs typeface="Times New Roman"/>
              </a:rPr>
              <a:t>remoin</a:t>
            </a:r>
            <a:r>
              <a:rPr dirty="0" sz="1650" spc="-20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relevant.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572402" y="8280241"/>
            <a:ext cx="2287270" cy="1191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61315">
              <a:lnSpc>
                <a:spcPct val="119700"/>
              </a:lnSpc>
              <a:spcBef>
                <a:spcPts val="100"/>
              </a:spcBef>
            </a:pPr>
            <a:r>
              <a:rPr dirty="0" sz="1550">
                <a:solidFill>
                  <a:srgbClr val="0885C8"/>
                </a:solidFill>
                <a:latin typeface="Calibri"/>
                <a:cs typeface="Calibri"/>
              </a:rPr>
              <a:t>Educates</a:t>
            </a:r>
            <a:r>
              <a:rPr dirty="0" sz="1550" spc="195">
                <a:solidFill>
                  <a:srgbClr val="0885C8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549CD1"/>
                </a:solidFill>
                <a:latin typeface="Calibri"/>
                <a:cs typeface="Calibri"/>
              </a:rPr>
              <a:t>Investors </a:t>
            </a:r>
            <a:r>
              <a:rPr dirty="0" sz="1550">
                <a:latin typeface="Calibri"/>
                <a:cs typeface="Calibri"/>
              </a:rPr>
              <a:t>Guides</a:t>
            </a:r>
            <a:r>
              <a:rPr dirty="0" sz="1550" spc="30">
                <a:latin typeface="Calibri"/>
                <a:cs typeface="Calibri"/>
              </a:rPr>
              <a:t> </a:t>
            </a:r>
            <a:r>
              <a:rPr dirty="0" sz="1550" spc="-20">
                <a:latin typeface="Calibri"/>
                <a:cs typeface="Calibri"/>
              </a:rPr>
              <a:t>investors</a:t>
            </a:r>
            <a:r>
              <a:rPr dirty="0" sz="1550" spc="10">
                <a:latin typeface="Calibri"/>
                <a:cs typeface="Calibri"/>
              </a:rPr>
              <a:t> </a:t>
            </a:r>
            <a:r>
              <a:rPr dirty="0" sz="1550">
                <a:latin typeface="Calibri"/>
                <a:cs typeface="Calibri"/>
              </a:rPr>
              <a:t>post</a:t>
            </a:r>
            <a:r>
              <a:rPr dirty="0" sz="1550" spc="-10">
                <a:latin typeface="Calibri"/>
                <a:cs typeface="Calibri"/>
              </a:rPr>
              <a:t> biases</a:t>
            </a:r>
            <a:endParaRPr sz="1550">
              <a:latin typeface="Calibri"/>
              <a:cs typeface="Calibri"/>
            </a:endParaRPr>
          </a:p>
          <a:p>
            <a:pPr marL="477520" marR="231140" indent="-245110">
              <a:lnSpc>
                <a:spcPct val="118700"/>
              </a:lnSpc>
              <a:spcBef>
                <a:spcPts val="20"/>
              </a:spcBef>
            </a:pPr>
            <a:r>
              <a:rPr dirty="0" sz="1650" spc="-70">
                <a:latin typeface="Times New Roman"/>
                <a:cs typeface="Times New Roman"/>
              </a:rPr>
              <a:t>for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70">
                <a:latin typeface="Times New Roman"/>
                <a:cs typeface="Times New Roman"/>
              </a:rPr>
              <a:t>informed,</a:t>
            </a:r>
            <a:r>
              <a:rPr dirty="0" sz="1650" spc="-15">
                <a:latin typeface="Times New Roman"/>
                <a:cs typeface="Times New Roman"/>
              </a:rPr>
              <a:t> </a:t>
            </a:r>
            <a:r>
              <a:rPr dirty="0" sz="1650" spc="-45">
                <a:latin typeface="Times New Roman"/>
                <a:cs typeface="Times New Roman"/>
              </a:rPr>
              <a:t>confident </a:t>
            </a:r>
            <a:r>
              <a:rPr dirty="0" sz="1650" spc="-60">
                <a:latin typeface="Times New Roman"/>
                <a:cs typeface="Times New Roman"/>
              </a:rPr>
              <a:t>decision-</a:t>
            </a:r>
            <a:r>
              <a:rPr dirty="0" sz="1650" spc="-10">
                <a:latin typeface="Times New Roman"/>
                <a:cs typeface="Times New Roman"/>
              </a:rPr>
              <a:t>moking.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212980" y="8280241"/>
            <a:ext cx="2233930" cy="1191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15875">
              <a:lnSpc>
                <a:spcPct val="119800"/>
              </a:lnSpc>
              <a:spcBef>
                <a:spcPts val="95"/>
              </a:spcBef>
            </a:pPr>
            <a:r>
              <a:rPr dirty="0" sz="1550" spc="-25">
                <a:solidFill>
                  <a:srgbClr val="219EE2"/>
                </a:solidFill>
                <a:latin typeface="Calibri"/>
                <a:cs typeface="Calibri"/>
              </a:rPr>
              <a:t>Long-</a:t>
            </a:r>
            <a:r>
              <a:rPr dirty="0" sz="1550">
                <a:solidFill>
                  <a:srgbClr val="219EE2"/>
                </a:solidFill>
                <a:latin typeface="Calibri"/>
                <a:cs typeface="Calibri"/>
              </a:rPr>
              <a:t>Term</a:t>
            </a:r>
            <a:r>
              <a:rPr dirty="0" sz="1550" spc="-55">
                <a:solidFill>
                  <a:srgbClr val="219EE2"/>
                </a:solidFill>
                <a:latin typeface="Calibri"/>
                <a:cs typeface="Calibri"/>
              </a:rPr>
              <a:t> </a:t>
            </a:r>
            <a:r>
              <a:rPr dirty="0" sz="1550" spc="-10">
                <a:solidFill>
                  <a:srgbClr val="0595DB"/>
                </a:solidFill>
                <a:latin typeface="Calibri"/>
                <a:cs typeface="Calibri"/>
              </a:rPr>
              <a:t>Relationships </a:t>
            </a:r>
            <a:r>
              <a:rPr dirty="0" sz="1550">
                <a:latin typeface="Calibri"/>
                <a:cs typeface="Calibri"/>
              </a:rPr>
              <a:t>Strengthens</a:t>
            </a:r>
            <a:r>
              <a:rPr dirty="0" sz="1550" spc="-65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loyalty</a:t>
            </a:r>
            <a:r>
              <a:rPr dirty="0" sz="1550" spc="-40">
                <a:latin typeface="Calibri"/>
                <a:cs typeface="Calibri"/>
              </a:rPr>
              <a:t> </a:t>
            </a:r>
            <a:r>
              <a:rPr dirty="0" sz="1550" spc="-10">
                <a:latin typeface="Calibri"/>
                <a:cs typeface="Calibri"/>
              </a:rPr>
              <a:t>through </a:t>
            </a:r>
            <a:r>
              <a:rPr dirty="0" sz="1650">
                <a:latin typeface="Times New Roman"/>
                <a:cs typeface="Times New Roman"/>
              </a:rPr>
              <a:t>deeper</a:t>
            </a:r>
            <a:r>
              <a:rPr dirty="0" sz="1650" spc="135">
                <a:latin typeface="Times New Roman"/>
                <a:cs typeface="Times New Roman"/>
              </a:rPr>
              <a:t> </a:t>
            </a:r>
            <a:r>
              <a:rPr dirty="0" sz="1650" spc="-70">
                <a:latin typeface="Times New Roman"/>
                <a:cs typeface="Times New Roman"/>
              </a:rPr>
              <a:t>uncterstondirjp</a:t>
            </a:r>
            <a:r>
              <a:rPr dirty="0" sz="1650" spc="-85">
                <a:latin typeface="Times New Roman"/>
                <a:cs typeface="Times New Roman"/>
              </a:rPr>
              <a:t> </a:t>
            </a:r>
            <a:r>
              <a:rPr dirty="0" sz="1650" spc="-25">
                <a:latin typeface="Times New Roman"/>
                <a:cs typeface="Times New Roman"/>
              </a:rPr>
              <a:t>end </a:t>
            </a:r>
            <a:r>
              <a:rPr dirty="0" sz="1650" spc="-65">
                <a:latin typeface="Times New Roman"/>
                <a:cs typeface="Times New Roman"/>
              </a:rPr>
              <a:t>meaningful</a:t>
            </a:r>
            <a:r>
              <a:rPr dirty="0" sz="1650" spc="-35">
                <a:latin typeface="Times New Roman"/>
                <a:cs typeface="Times New Roman"/>
              </a:rPr>
              <a:t> </a:t>
            </a:r>
            <a:r>
              <a:rPr dirty="0" sz="1650" spc="-10">
                <a:latin typeface="Times New Roman"/>
                <a:cs typeface="Times New Roman"/>
              </a:rPr>
              <a:t>engagement.</a:t>
            </a:r>
            <a:endParaRPr sz="16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5497214"/>
            <a:ext cx="18297872" cy="910967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6994247" y="11198611"/>
            <a:ext cx="3110230" cy="55244"/>
          </a:xfrm>
          <a:custGeom>
            <a:avLst/>
            <a:gdLst/>
            <a:ahLst/>
            <a:cxnLst/>
            <a:rect l="l" t="t" r="r" b="b"/>
            <a:pathLst>
              <a:path w="3110230" h="55245">
                <a:moveTo>
                  <a:pt x="3109853" y="54972"/>
                </a:moveTo>
                <a:lnTo>
                  <a:pt x="0" y="54972"/>
                </a:lnTo>
                <a:lnTo>
                  <a:pt x="0" y="0"/>
                </a:lnTo>
                <a:lnTo>
                  <a:pt x="3109853" y="0"/>
                </a:lnTo>
                <a:lnTo>
                  <a:pt x="3109853" y="54972"/>
                </a:lnTo>
                <a:close/>
              </a:path>
            </a:pathLst>
          </a:custGeom>
          <a:solidFill>
            <a:srgbClr val="1C38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147" rIns="0" bIns="0" rtlCol="0" vert="horz">
            <a:spAutoFit/>
          </a:bodyPr>
          <a:lstStyle/>
          <a:p>
            <a:pPr marL="536575">
              <a:lnSpc>
                <a:spcPct val="100000"/>
              </a:lnSpc>
              <a:spcBef>
                <a:spcPts val="95"/>
              </a:spcBef>
            </a:pPr>
            <a:r>
              <a:rPr dirty="0" sz="5800" spc="170">
                <a:solidFill>
                  <a:srgbClr val="1D3887"/>
                </a:solidFill>
              </a:rPr>
              <a:t>Fund</a:t>
            </a:r>
            <a:r>
              <a:rPr dirty="0" sz="5800" spc="-450">
                <a:solidFill>
                  <a:srgbClr val="1D3887"/>
                </a:solidFill>
              </a:rPr>
              <a:t> </a:t>
            </a:r>
            <a:r>
              <a:rPr dirty="0" sz="5800" spc="235">
                <a:solidFill>
                  <a:srgbClr val="1F3A89"/>
                </a:solidFill>
              </a:rPr>
              <a:t>Recommendation</a:t>
            </a:r>
            <a:r>
              <a:rPr dirty="0" sz="5800" spc="-720">
                <a:solidFill>
                  <a:srgbClr val="1F3A89"/>
                </a:solidFill>
              </a:rPr>
              <a:t> </a:t>
            </a:r>
            <a:r>
              <a:rPr dirty="0" sz="5800" spc="240">
                <a:solidFill>
                  <a:srgbClr val="1A3D83"/>
                </a:solidFill>
              </a:rPr>
              <a:t>Logic</a:t>
            </a:r>
            <a:endParaRPr sz="5800"/>
          </a:p>
        </p:txBody>
      </p:sp>
      <p:sp>
        <p:nvSpPr>
          <p:cNvPr id="5" name="object 5"/>
          <p:cNvSpPr txBox="1"/>
          <p:nvPr/>
        </p:nvSpPr>
        <p:spPr>
          <a:xfrm>
            <a:off x="1238492" y="4050657"/>
            <a:ext cx="1692910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343434"/>
                </a:solidFill>
                <a:latin typeface="Calibri"/>
                <a:cs typeface="Calibri"/>
              </a:rPr>
              <a:t>Algorithm:</a:t>
            </a:r>
            <a:r>
              <a:rPr dirty="0" sz="2450" spc="-5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2F2F2F"/>
                </a:solidFill>
                <a:latin typeface="Calibri"/>
                <a:cs typeface="Calibri"/>
              </a:rPr>
              <a:t>Filters</a:t>
            </a:r>
            <a:r>
              <a:rPr dirty="0" sz="2450" spc="-9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95">
                <a:solidFill>
                  <a:srgbClr val="343434"/>
                </a:solidFill>
                <a:latin typeface="Calibri"/>
                <a:cs typeface="Calibri"/>
              </a:rPr>
              <a:t>schemes</a:t>
            </a:r>
            <a:r>
              <a:rPr dirty="0" sz="2450" spc="-1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70">
                <a:solidFill>
                  <a:srgbClr val="2F2F2F"/>
                </a:solidFill>
                <a:latin typeface="Calibri"/>
                <a:cs typeface="Calibri"/>
              </a:rPr>
              <a:t>based</a:t>
            </a:r>
            <a:r>
              <a:rPr dirty="0" sz="2450" spc="-15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B3B3B"/>
                </a:solidFill>
                <a:latin typeface="Calibri"/>
                <a:cs typeface="Calibri"/>
              </a:rPr>
              <a:t>on</a:t>
            </a:r>
            <a:r>
              <a:rPr dirty="0" sz="2450" spc="-9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i="1">
                <a:solidFill>
                  <a:srgbClr val="333333"/>
                </a:solidFill>
                <a:latin typeface="Calibri"/>
                <a:cs typeface="Calibri"/>
              </a:rPr>
              <a:t>RiskAppetite</a:t>
            </a:r>
            <a:r>
              <a:rPr dirty="0" sz="2450" spc="-180" i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82828"/>
                </a:solidFill>
                <a:latin typeface="Calibri"/>
                <a:cs typeface="Calibri"/>
              </a:rPr>
              <a:t>$\rightarrow$</a:t>
            </a:r>
            <a:r>
              <a:rPr dirty="0" sz="2450" spc="8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2D2D2D"/>
                </a:solidFill>
                <a:latin typeface="Calibri"/>
                <a:cs typeface="Calibri"/>
              </a:rPr>
              <a:t>Ranks</a:t>
            </a:r>
            <a:r>
              <a:rPr dirty="0" sz="2450" spc="-7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B3B3B"/>
                </a:solidFill>
                <a:latin typeface="Calibri"/>
                <a:cs typeface="Calibri"/>
              </a:rPr>
              <a:t>by</a:t>
            </a:r>
            <a:r>
              <a:rPr dirty="0" sz="2450" spc="15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spc="-110" i="1">
                <a:solidFill>
                  <a:srgbClr val="262626"/>
                </a:solidFill>
                <a:latin typeface="Calibri"/>
                <a:cs typeface="Calibri"/>
              </a:rPr>
              <a:t>9O-</a:t>
            </a:r>
            <a:r>
              <a:rPr dirty="0" sz="2450" spc="-114" i="1">
                <a:solidFill>
                  <a:srgbClr val="262626"/>
                </a:solidFill>
                <a:latin typeface="Calibri"/>
                <a:cs typeface="Calibri"/>
              </a:rPr>
              <a:t>Day</a:t>
            </a:r>
            <a:r>
              <a:rPr dirty="0" sz="2450" spc="-165" i="1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2450" i="1">
                <a:solidFill>
                  <a:srgbClr val="333333"/>
                </a:solidFill>
                <a:latin typeface="Calibri"/>
                <a:cs typeface="Calibri"/>
              </a:rPr>
              <a:t>RollingSharpe</a:t>
            </a:r>
            <a:r>
              <a:rPr dirty="0" sz="2450" spc="-5" i="1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i="1">
                <a:solidFill>
                  <a:srgbClr val="343434"/>
                </a:solidFill>
                <a:latin typeface="Calibri"/>
                <a:cs typeface="Calibri"/>
              </a:rPr>
              <a:t>Ratio</a:t>
            </a:r>
            <a:r>
              <a:rPr dirty="0" sz="2450" spc="-270" i="1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13131"/>
                </a:solidFill>
                <a:latin typeface="Calibri"/>
                <a:cs typeface="Calibri"/>
              </a:rPr>
              <a:t>$\rightarrow$</a:t>
            </a:r>
            <a:r>
              <a:rPr dirty="0" sz="2450" spc="8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43434"/>
                </a:solidFill>
                <a:latin typeface="Calibri"/>
                <a:cs typeface="Calibri"/>
              </a:rPr>
              <a:t>Selects</a:t>
            </a:r>
            <a:r>
              <a:rPr dirty="0" sz="2450" spc="16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70" i="1">
                <a:solidFill>
                  <a:srgbClr val="343434"/>
                </a:solidFill>
                <a:latin typeface="Calibri"/>
                <a:cs typeface="Calibri"/>
              </a:rPr>
              <a:t>Top</a:t>
            </a:r>
            <a:r>
              <a:rPr dirty="0" sz="2450" spc="-120" i="1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10" i="1">
                <a:solidFill>
                  <a:srgbClr val="343434"/>
                </a:solidFill>
                <a:latin typeface="Calibri"/>
                <a:cs typeface="Calibri"/>
              </a:rPr>
              <a:t>3Funds.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8406" y="6626495"/>
            <a:ext cx="164465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0">
                <a:solidFill>
                  <a:srgbClr val="2F2F2F"/>
                </a:solidFill>
                <a:latin typeface="Calibri"/>
                <a:cs typeface="Calibri"/>
              </a:rPr>
              <a:t>Conservative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64101" y="7553823"/>
            <a:ext cx="114808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10">
                <a:solidFill>
                  <a:srgbClr val="2F2F2F"/>
                </a:solidFill>
                <a:latin typeface="Calibri"/>
                <a:cs typeface="Calibri"/>
              </a:rPr>
              <a:t>Balanced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9961" y="8448430"/>
            <a:ext cx="135572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">
                <a:solidFill>
                  <a:srgbClr val="1D1D1D"/>
                </a:solidFill>
                <a:latin typeface="Calibri"/>
                <a:cs typeface="Calibri"/>
              </a:rPr>
              <a:t>Aggressive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57385" y="6626495"/>
            <a:ext cx="112331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313131"/>
                </a:solidFill>
                <a:latin typeface="Calibri"/>
                <a:cs typeface="Calibri"/>
              </a:rPr>
              <a:t>Low</a:t>
            </a:r>
            <a:r>
              <a:rPr dirty="0" sz="2450" spc="-18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63636"/>
                </a:solidFill>
                <a:latin typeface="Calibri"/>
                <a:cs typeface="Calibri"/>
              </a:rPr>
              <a:t>Risk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57385" y="7537462"/>
            <a:ext cx="123761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55">
                <a:solidFill>
                  <a:srgbClr val="2F2F2F"/>
                </a:solidFill>
                <a:latin typeface="Calibri"/>
                <a:cs typeface="Calibri"/>
              </a:rPr>
              <a:t>Moderate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657385" y="8448430"/>
            <a:ext cx="121221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>
                <a:solidFill>
                  <a:srgbClr val="313131"/>
                </a:solidFill>
                <a:latin typeface="Calibri"/>
                <a:cs typeface="Calibri"/>
              </a:rPr>
              <a:t>High</a:t>
            </a:r>
            <a:r>
              <a:rPr dirty="0" sz="2450" spc="-7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40">
                <a:solidFill>
                  <a:srgbClr val="333333"/>
                </a:solidFill>
                <a:latin typeface="Calibri"/>
                <a:cs typeface="Calibri"/>
              </a:rPr>
              <a:t>Risk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64081" y="6626495"/>
            <a:ext cx="292608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0">
                <a:solidFill>
                  <a:srgbClr val="313131"/>
                </a:solidFill>
                <a:latin typeface="Calibri"/>
                <a:cs typeface="Calibri"/>
              </a:rPr>
              <a:t>Debt/Liquid</a:t>
            </a:r>
            <a:r>
              <a:rPr dirty="0" sz="2450" spc="-7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F2F2F"/>
                </a:solidFill>
                <a:latin typeface="Calibri"/>
                <a:cs typeface="Calibri"/>
              </a:rPr>
              <a:t>Orientated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64081" y="7537462"/>
            <a:ext cx="292354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">
                <a:solidFill>
                  <a:srgbClr val="363636"/>
                </a:solidFill>
                <a:latin typeface="Calibri"/>
                <a:cs typeface="Calibri"/>
              </a:rPr>
              <a:t>Hybrid/Bluechip</a:t>
            </a:r>
            <a:r>
              <a:rPr dirty="0" sz="2450" spc="-19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F2F2F"/>
                </a:solidFill>
                <a:latin typeface="Calibri"/>
                <a:cs typeface="Calibri"/>
              </a:rPr>
              <a:t>Equity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364081" y="8448430"/>
            <a:ext cx="291401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5">
                <a:solidFill>
                  <a:srgbClr val="343434"/>
                </a:solidFill>
                <a:latin typeface="Calibri"/>
                <a:cs typeface="Calibri"/>
              </a:rPr>
              <a:t>Mid/Small</a:t>
            </a:r>
            <a:r>
              <a:rPr dirty="0" sz="2450" spc="-4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63636"/>
                </a:solidFill>
                <a:latin typeface="Calibri"/>
                <a:cs typeface="Calibri"/>
              </a:rPr>
              <a:t>Cap</a:t>
            </a:r>
            <a:r>
              <a:rPr dirty="0" sz="2450" spc="-18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F2F2F"/>
                </a:solidFill>
                <a:latin typeface="Calibri"/>
                <a:cs typeface="Calibri"/>
              </a:rPr>
              <a:t>Sectoral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191129" y="6626495"/>
            <a:ext cx="217170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0">
                <a:solidFill>
                  <a:srgbClr val="333333"/>
                </a:solidFill>
                <a:latin typeface="Calibri"/>
                <a:cs typeface="Calibri"/>
              </a:rPr>
              <a:t>Liquid</a:t>
            </a:r>
            <a:r>
              <a:rPr dirty="0" sz="2450" spc="-9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2A2A2A"/>
                </a:solidFill>
                <a:latin typeface="Calibri"/>
                <a:cs typeface="Calibri"/>
              </a:rPr>
              <a:t>Index</a:t>
            </a:r>
            <a:r>
              <a:rPr dirty="0" sz="2450" spc="-13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2F2F2F"/>
                </a:solidFill>
                <a:latin typeface="Calibri"/>
                <a:cs typeface="Calibri"/>
              </a:rPr>
              <a:t>Fund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91129" y="7537462"/>
            <a:ext cx="213995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5">
                <a:solidFill>
                  <a:srgbClr val="333333"/>
                </a:solidFill>
                <a:latin typeface="Calibri"/>
                <a:cs typeface="Calibri"/>
              </a:rPr>
              <a:t>Flexi</a:t>
            </a:r>
            <a:r>
              <a:rPr dirty="0" sz="2450" spc="-8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63636"/>
                </a:solidFill>
                <a:latin typeface="Calibri"/>
                <a:cs typeface="Calibri"/>
              </a:rPr>
              <a:t>Cap</a:t>
            </a:r>
            <a:r>
              <a:rPr dirty="0" sz="2450" spc="-12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Growth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190752" y="8448430"/>
            <a:ext cx="2674620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10">
                <a:solidFill>
                  <a:srgbClr val="363636"/>
                </a:solidFill>
                <a:latin typeface="Calibri"/>
                <a:cs typeface="Calibri"/>
              </a:rPr>
              <a:t>Small</a:t>
            </a:r>
            <a:r>
              <a:rPr dirty="0" sz="2450" spc="-7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33333"/>
                </a:solidFill>
                <a:latin typeface="Calibri"/>
                <a:cs typeface="Calibri"/>
              </a:rPr>
              <a:t>Cap</a:t>
            </a:r>
            <a:r>
              <a:rPr dirty="0" sz="2450" spc="-1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63636"/>
                </a:solidFill>
                <a:latin typeface="Calibri"/>
                <a:cs typeface="Calibri"/>
              </a:rPr>
              <a:t>Alpha</a:t>
            </a:r>
            <a:r>
              <a:rPr dirty="0" sz="2450" spc="-13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2B2B2B"/>
                </a:solidFill>
                <a:latin typeface="Calibri"/>
                <a:cs typeface="Calibri"/>
              </a:rPr>
              <a:t>Fund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2379" y="3957994"/>
            <a:ext cx="8717012" cy="4963199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6994247" y="11198611"/>
            <a:ext cx="3110230" cy="55244"/>
          </a:xfrm>
          <a:custGeom>
            <a:avLst/>
            <a:gdLst/>
            <a:ahLst/>
            <a:cxnLst/>
            <a:rect l="l" t="t" r="r" b="b"/>
            <a:pathLst>
              <a:path w="3110230" h="55245">
                <a:moveTo>
                  <a:pt x="3109853" y="54972"/>
                </a:moveTo>
                <a:lnTo>
                  <a:pt x="0" y="54972"/>
                </a:lnTo>
                <a:lnTo>
                  <a:pt x="0" y="0"/>
                </a:lnTo>
                <a:lnTo>
                  <a:pt x="3109853" y="0"/>
                </a:lnTo>
                <a:lnTo>
                  <a:pt x="3109853" y="54972"/>
                </a:lnTo>
                <a:close/>
              </a:path>
            </a:pathLst>
          </a:custGeom>
          <a:solidFill>
            <a:srgbClr val="1C388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534035">
              <a:lnSpc>
                <a:spcPct val="100000"/>
              </a:lnSpc>
              <a:spcBef>
                <a:spcPts val="105"/>
              </a:spcBef>
            </a:pPr>
            <a:r>
              <a:rPr dirty="0" sz="6050" spc="105">
                <a:solidFill>
                  <a:srgbClr val="1D3B8A"/>
                </a:solidFill>
              </a:rPr>
              <a:t>Dashboard:</a:t>
            </a:r>
            <a:r>
              <a:rPr dirty="0" sz="6050" spc="-270">
                <a:solidFill>
                  <a:srgbClr val="1D3B8A"/>
                </a:solidFill>
              </a:rPr>
              <a:t> </a:t>
            </a:r>
            <a:r>
              <a:rPr dirty="0" sz="6050" spc="95">
                <a:solidFill>
                  <a:srgbClr val="1F3A83"/>
                </a:solidFill>
              </a:rPr>
              <a:t>Industry</a:t>
            </a:r>
            <a:r>
              <a:rPr dirty="0" sz="6050" spc="-305">
                <a:solidFill>
                  <a:srgbClr val="1F3A83"/>
                </a:solidFill>
              </a:rPr>
              <a:t> </a:t>
            </a:r>
            <a:r>
              <a:rPr dirty="0" sz="6050" spc="40">
                <a:solidFill>
                  <a:srgbClr val="1C3A90"/>
                </a:solidFill>
              </a:rPr>
              <a:t>Performance</a:t>
            </a:r>
            <a:endParaRPr sz="605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>
                <a:solidFill>
                  <a:srgbClr val="183FAF"/>
                </a:solidFill>
              </a:rPr>
              <a:t>Key</a:t>
            </a:r>
            <a:r>
              <a:rPr dirty="0" spc="790">
                <a:solidFill>
                  <a:srgbClr val="183FAF"/>
                </a:solidFill>
              </a:rPr>
              <a:t> </a:t>
            </a:r>
            <a:r>
              <a:rPr dirty="0" spc="210">
                <a:solidFill>
                  <a:srgbClr val="1C3FB6"/>
                </a:solidFill>
              </a:rPr>
              <a:t>Visual</a:t>
            </a:r>
            <a:r>
              <a:rPr dirty="0" spc="-110">
                <a:solidFill>
                  <a:srgbClr val="1C3FB6"/>
                </a:solidFill>
              </a:rPr>
              <a:t> </a:t>
            </a:r>
            <a:r>
              <a:rPr dirty="0" spc="195"/>
              <a:t>Components</a:t>
            </a:r>
          </a:p>
          <a:p>
            <a:pPr marL="88265" marR="5080" indent="-68580">
              <a:lnSpc>
                <a:spcPts val="5810"/>
              </a:lnSpc>
              <a:spcBef>
                <a:spcPts val="470"/>
              </a:spcBef>
              <a:tabLst>
                <a:tab pos="655955" algn="l"/>
              </a:tabLst>
            </a:pPr>
            <a:r>
              <a:rPr dirty="0" sz="2450" spc="-25">
                <a:solidFill>
                  <a:srgbClr val="5BA3FF"/>
                </a:solidFill>
              </a:rPr>
              <a:t>{@</a:t>
            </a:r>
            <a:r>
              <a:rPr dirty="0" sz="2450">
                <a:solidFill>
                  <a:srgbClr val="5BA3FF"/>
                </a:solidFill>
              </a:rPr>
              <a:t>	</a:t>
            </a:r>
            <a:r>
              <a:rPr dirty="0" sz="2450" spc="-535">
                <a:solidFill>
                  <a:srgbClr val="5BA3FF"/>
                </a:solidFill>
              </a:rPr>
              <a:t> </a:t>
            </a:r>
            <a:r>
              <a:rPr dirty="0" sz="2450">
                <a:solidFill>
                  <a:srgbClr val="234266"/>
                </a:solidFill>
              </a:rPr>
              <a:t>KPI</a:t>
            </a:r>
            <a:r>
              <a:rPr dirty="0" sz="2450" spc="395">
                <a:solidFill>
                  <a:srgbClr val="234266"/>
                </a:solidFill>
              </a:rPr>
              <a:t> </a:t>
            </a:r>
            <a:r>
              <a:rPr dirty="0" sz="2450" spc="-10">
                <a:solidFill>
                  <a:srgbClr val="383838"/>
                </a:solidFill>
              </a:rPr>
              <a:t>Cards:</a:t>
            </a:r>
            <a:r>
              <a:rPr dirty="0" sz="2450" spc="-130">
                <a:solidFill>
                  <a:srgbClr val="383838"/>
                </a:solidFill>
              </a:rPr>
              <a:t> </a:t>
            </a:r>
            <a:r>
              <a:rPr dirty="0" sz="2450" spc="-55">
                <a:solidFill>
                  <a:srgbClr val="2F2F2F"/>
                </a:solidFill>
              </a:rPr>
              <a:t>Total</a:t>
            </a:r>
            <a:r>
              <a:rPr dirty="0" sz="2450" spc="-95">
                <a:solidFill>
                  <a:srgbClr val="2F2F2F"/>
                </a:solidFill>
              </a:rPr>
              <a:t> </a:t>
            </a:r>
            <a:r>
              <a:rPr dirty="0" sz="2450" spc="-65">
                <a:solidFill>
                  <a:srgbClr val="363636"/>
                </a:solidFill>
              </a:rPr>
              <a:t>AUM,</a:t>
            </a:r>
            <a:r>
              <a:rPr dirty="0" sz="2450" spc="-114">
                <a:solidFill>
                  <a:srgbClr val="363636"/>
                </a:solidFill>
              </a:rPr>
              <a:t> </a:t>
            </a:r>
            <a:r>
              <a:rPr dirty="0" sz="2450">
                <a:solidFill>
                  <a:srgbClr val="3B3B3B"/>
                </a:solidFill>
              </a:rPr>
              <a:t>Portfolio</a:t>
            </a:r>
            <a:r>
              <a:rPr dirty="0" sz="2450" spc="-80">
                <a:solidFill>
                  <a:srgbClr val="3B3B3B"/>
                </a:solidFill>
              </a:rPr>
              <a:t> </a:t>
            </a:r>
            <a:r>
              <a:rPr dirty="0" sz="2450" spc="-30">
                <a:solidFill>
                  <a:srgbClr val="232323"/>
                </a:solidFill>
              </a:rPr>
              <a:t>Counts,</a:t>
            </a:r>
            <a:r>
              <a:rPr dirty="0" sz="2450" spc="-65">
                <a:solidFill>
                  <a:srgbClr val="232323"/>
                </a:solidFill>
              </a:rPr>
              <a:t> </a:t>
            </a:r>
            <a:r>
              <a:rPr dirty="0" sz="2450" spc="-85">
                <a:solidFill>
                  <a:srgbClr val="3F3F3F"/>
                </a:solidFill>
              </a:rPr>
              <a:t>and</a:t>
            </a:r>
            <a:r>
              <a:rPr dirty="0" sz="2450" spc="-155">
                <a:solidFill>
                  <a:srgbClr val="3F3F3F"/>
                </a:solidFill>
              </a:rPr>
              <a:t> </a:t>
            </a:r>
            <a:r>
              <a:rPr dirty="0" sz="2450" spc="-40">
                <a:solidFill>
                  <a:srgbClr val="333333"/>
                </a:solidFill>
              </a:rPr>
              <a:t>active</a:t>
            </a:r>
            <a:r>
              <a:rPr dirty="0" sz="2450" spc="-195">
                <a:solidFill>
                  <a:srgbClr val="333333"/>
                </a:solidFill>
              </a:rPr>
              <a:t> </a:t>
            </a:r>
            <a:r>
              <a:rPr dirty="0" sz="2450">
                <a:solidFill>
                  <a:srgbClr val="3B3B3B"/>
                </a:solidFill>
              </a:rPr>
              <a:t>SIP</a:t>
            </a:r>
            <a:r>
              <a:rPr dirty="0" sz="2450" spc="220">
                <a:solidFill>
                  <a:srgbClr val="3B3B3B"/>
                </a:solidFill>
              </a:rPr>
              <a:t> </a:t>
            </a:r>
            <a:r>
              <a:rPr dirty="0" sz="2450" spc="-10">
                <a:solidFill>
                  <a:srgbClr val="363636"/>
                </a:solidFill>
              </a:rPr>
              <a:t>Inflows. </a:t>
            </a:r>
            <a:r>
              <a:rPr dirty="0" sz="2450" spc="65">
                <a:solidFill>
                  <a:srgbClr val="6BA1E8"/>
                </a:solidFill>
              </a:rPr>
              <a:t>m</a:t>
            </a:r>
            <a:r>
              <a:rPr dirty="0" sz="2450">
                <a:solidFill>
                  <a:srgbClr val="6BA1E8"/>
                </a:solidFill>
              </a:rPr>
              <a:t>	</a:t>
            </a:r>
            <a:r>
              <a:rPr dirty="0" sz="2450">
                <a:solidFill>
                  <a:srgbClr val="3B3B3B"/>
                </a:solidFill>
              </a:rPr>
              <a:t>AUM</a:t>
            </a:r>
            <a:r>
              <a:rPr dirty="0" sz="2450" spc="-105">
                <a:solidFill>
                  <a:srgbClr val="3B3B3B"/>
                </a:solidFill>
              </a:rPr>
              <a:t> </a:t>
            </a:r>
            <a:r>
              <a:rPr dirty="0" sz="2450" spc="-30">
                <a:solidFill>
                  <a:srgbClr val="3A3A3A"/>
                </a:solidFill>
              </a:rPr>
              <a:t>Trends:</a:t>
            </a:r>
            <a:r>
              <a:rPr dirty="0" sz="2450" spc="-110">
                <a:solidFill>
                  <a:srgbClr val="3A3A3A"/>
                </a:solidFill>
              </a:rPr>
              <a:t> </a:t>
            </a:r>
            <a:r>
              <a:rPr dirty="0" sz="2450" spc="-45">
                <a:solidFill>
                  <a:srgbClr val="363636"/>
                </a:solidFill>
              </a:rPr>
              <a:t>Multi-</a:t>
            </a:r>
            <a:r>
              <a:rPr dirty="0" sz="2450" spc="-20">
                <a:solidFill>
                  <a:srgbClr val="363636"/>
                </a:solidFill>
              </a:rPr>
              <a:t>year</a:t>
            </a:r>
            <a:r>
              <a:rPr dirty="0" sz="2450">
                <a:solidFill>
                  <a:srgbClr val="363636"/>
                </a:solidFill>
              </a:rPr>
              <a:t> </a:t>
            </a:r>
            <a:r>
              <a:rPr dirty="0" sz="2450" spc="-60">
                <a:solidFill>
                  <a:srgbClr val="333333"/>
                </a:solidFill>
              </a:rPr>
              <a:t>comparison</a:t>
            </a:r>
            <a:r>
              <a:rPr dirty="0" sz="2450" spc="5">
                <a:solidFill>
                  <a:srgbClr val="333333"/>
                </a:solidFill>
              </a:rPr>
              <a:t> </a:t>
            </a:r>
            <a:r>
              <a:rPr dirty="0" sz="2450" spc="-50">
                <a:solidFill>
                  <a:srgbClr val="383838"/>
                </a:solidFill>
              </a:rPr>
              <a:t>of</a:t>
            </a:r>
            <a:r>
              <a:rPr dirty="0" sz="2450" spc="-140">
                <a:solidFill>
                  <a:srgbClr val="383838"/>
                </a:solidFill>
              </a:rPr>
              <a:t> </a:t>
            </a:r>
            <a:r>
              <a:rPr dirty="0" sz="2450" spc="-20">
                <a:solidFill>
                  <a:srgbClr val="2D2D2D"/>
                </a:solidFill>
              </a:rPr>
              <a:t>industry</a:t>
            </a:r>
            <a:r>
              <a:rPr dirty="0" sz="2450" spc="-30">
                <a:solidFill>
                  <a:srgbClr val="2D2D2D"/>
                </a:solidFill>
              </a:rPr>
              <a:t> </a:t>
            </a:r>
            <a:r>
              <a:rPr dirty="0" sz="2450" spc="-45">
                <a:solidFill>
                  <a:srgbClr val="383838"/>
                </a:solidFill>
              </a:rPr>
              <a:t>growth</a:t>
            </a:r>
            <a:r>
              <a:rPr dirty="0" sz="2450" spc="-90">
                <a:solidFill>
                  <a:srgbClr val="383838"/>
                </a:solidFill>
              </a:rPr>
              <a:t> </a:t>
            </a:r>
            <a:r>
              <a:rPr dirty="0" sz="2450" spc="-25">
                <a:solidFill>
                  <a:srgbClr val="283157"/>
                </a:solidFill>
              </a:rPr>
              <a:t>vs</a:t>
            </a:r>
            <a:endParaRPr sz="2450"/>
          </a:p>
          <a:p>
            <a:pPr marL="653415">
              <a:lnSpc>
                <a:spcPts val="2670"/>
              </a:lnSpc>
            </a:pPr>
            <a:r>
              <a:rPr dirty="0" sz="2450" spc="-10">
                <a:solidFill>
                  <a:srgbClr val="2F2F2F"/>
                </a:solidFill>
              </a:rPr>
              <a:t>benchmark.</a:t>
            </a:r>
            <a:endParaRPr sz="2450"/>
          </a:p>
          <a:p>
            <a:pPr marL="653415" marR="327660" indent="-3175">
              <a:lnSpc>
                <a:spcPct val="113599"/>
              </a:lnSpc>
              <a:spcBef>
                <a:spcPts val="2470"/>
              </a:spcBef>
            </a:pPr>
            <a:r>
              <a:rPr dirty="0" sz="2450" spc="-50">
                <a:solidFill>
                  <a:srgbClr val="3B3B3B"/>
                </a:solidFill>
              </a:rPr>
              <a:t>Fund</a:t>
            </a:r>
            <a:r>
              <a:rPr dirty="0" sz="2450" spc="-160">
                <a:solidFill>
                  <a:srgbClr val="3B3B3B"/>
                </a:solidFill>
              </a:rPr>
              <a:t> </a:t>
            </a:r>
            <a:r>
              <a:rPr dirty="0" sz="2450" spc="-10">
                <a:solidFill>
                  <a:srgbClr val="3B3B3B"/>
                </a:solidFill>
              </a:rPr>
              <a:t>Scorecard:</a:t>
            </a:r>
            <a:r>
              <a:rPr dirty="0" sz="2450" spc="45">
                <a:solidFill>
                  <a:srgbClr val="3B3B3B"/>
                </a:solidFill>
              </a:rPr>
              <a:t> </a:t>
            </a:r>
            <a:r>
              <a:rPr dirty="0" sz="2450" spc="-20">
                <a:solidFill>
                  <a:srgbClr val="262626"/>
                </a:solidFill>
              </a:rPr>
              <a:t>Interactivefilter-</a:t>
            </a:r>
            <a:r>
              <a:rPr dirty="0" sz="2450" spc="-25">
                <a:solidFill>
                  <a:srgbClr val="262626"/>
                </a:solidFill>
              </a:rPr>
              <a:t>based</a:t>
            </a:r>
            <a:r>
              <a:rPr dirty="0" sz="2450" spc="-245">
                <a:solidFill>
                  <a:srgbClr val="262626"/>
                </a:solidFill>
              </a:rPr>
              <a:t> </a:t>
            </a:r>
            <a:r>
              <a:rPr dirty="0" sz="2450" spc="-75">
                <a:solidFill>
                  <a:srgbClr val="363636"/>
                </a:solidFill>
              </a:rPr>
              <a:t>performance</a:t>
            </a:r>
            <a:r>
              <a:rPr dirty="0" sz="2450" spc="-20">
                <a:solidFill>
                  <a:srgbClr val="363636"/>
                </a:solidFill>
              </a:rPr>
              <a:t> </a:t>
            </a:r>
            <a:r>
              <a:rPr dirty="0" sz="2450" spc="-10">
                <a:solidFill>
                  <a:srgbClr val="383838"/>
                </a:solidFill>
              </a:rPr>
              <a:t>vs</a:t>
            </a:r>
            <a:r>
              <a:rPr dirty="0" sz="2450" spc="-114">
                <a:solidFill>
                  <a:srgbClr val="383838"/>
                </a:solidFill>
              </a:rPr>
              <a:t> </a:t>
            </a:r>
            <a:r>
              <a:rPr dirty="0" sz="2450" spc="-20">
                <a:solidFill>
                  <a:srgbClr val="383838"/>
                </a:solidFill>
              </a:rPr>
              <a:t>Risk </a:t>
            </a:r>
            <a:r>
              <a:rPr dirty="0" sz="2450" spc="-10">
                <a:solidFill>
                  <a:srgbClr val="363636"/>
                </a:solidFill>
              </a:rPr>
              <a:t>metrics.</a:t>
            </a:r>
            <a:endParaRPr sz="24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52050" y="0"/>
            <a:ext cx="10052050" cy="11308556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379677" y="830207"/>
            <a:ext cx="6536690" cy="1894839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500"/>
              </a:lnSpc>
              <a:spcBef>
                <a:spcPts val="95"/>
              </a:spcBef>
            </a:pPr>
            <a:r>
              <a:rPr dirty="0" sz="5650" spc="285">
                <a:solidFill>
                  <a:srgbClr val="1D3B8A"/>
                </a:solidFill>
              </a:rPr>
              <a:t>Dashboard:</a:t>
            </a:r>
            <a:r>
              <a:rPr dirty="0" sz="5650" spc="-155">
                <a:solidFill>
                  <a:srgbClr val="1D3B8A"/>
                </a:solidFill>
              </a:rPr>
              <a:t> </a:t>
            </a:r>
            <a:r>
              <a:rPr dirty="0" sz="5650" spc="220">
                <a:solidFill>
                  <a:srgbClr val="1F3A83"/>
                </a:solidFill>
              </a:rPr>
              <a:t>Investor </a:t>
            </a:r>
            <a:r>
              <a:rPr dirty="0" sz="5650" spc="290">
                <a:solidFill>
                  <a:srgbClr val="1C3B83"/>
                </a:solidFill>
              </a:rPr>
              <a:t>Insights</a:t>
            </a:r>
            <a:endParaRPr sz="5650"/>
          </a:p>
        </p:txBody>
      </p:sp>
      <p:sp>
        <p:nvSpPr>
          <p:cNvPr id="4" name="object 4"/>
          <p:cNvSpPr txBox="1"/>
          <p:nvPr/>
        </p:nvSpPr>
        <p:spPr>
          <a:xfrm>
            <a:off x="1551972" y="3638366"/>
            <a:ext cx="7386955" cy="3198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0320" marR="196215" indent="-8255">
              <a:lnSpc>
                <a:spcPct val="113599"/>
              </a:lnSpc>
              <a:spcBef>
                <a:spcPts val="100"/>
              </a:spcBef>
            </a:pPr>
            <a:r>
              <a:rPr dirty="0" sz="2450" spc="-30">
                <a:solidFill>
                  <a:srgbClr val="333333"/>
                </a:solidFill>
                <a:latin typeface="Calibri"/>
                <a:cs typeface="Calibri"/>
              </a:rPr>
              <a:t>Geographic</a:t>
            </a:r>
            <a:r>
              <a:rPr dirty="0" sz="2450" spc="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33333"/>
                </a:solidFill>
                <a:latin typeface="Calibri"/>
                <a:cs typeface="Calibri"/>
              </a:rPr>
              <a:t>Analysis:</a:t>
            </a:r>
            <a:r>
              <a:rPr dirty="0" sz="245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43434"/>
                </a:solidFill>
                <a:latin typeface="Calibri"/>
                <a:cs typeface="Calibri"/>
              </a:rPr>
              <a:t>Transaction</a:t>
            </a:r>
            <a:r>
              <a:rPr dirty="0" sz="2450" spc="-5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60">
                <a:solidFill>
                  <a:srgbClr val="363636"/>
                </a:solidFill>
                <a:latin typeface="Calibri"/>
                <a:cs typeface="Calibri"/>
              </a:rPr>
              <a:t>volume</a:t>
            </a:r>
            <a:r>
              <a:rPr dirty="0" sz="2450" spc="-19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10">
                <a:solidFill>
                  <a:srgbClr val="363636"/>
                </a:solidFill>
                <a:latin typeface="Calibri"/>
                <a:cs typeface="Calibri"/>
              </a:rPr>
              <a:t>mapped</a:t>
            </a:r>
            <a:r>
              <a:rPr dirty="0" sz="2450" spc="-6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A3A3A"/>
                </a:solidFill>
                <a:latin typeface="Calibri"/>
                <a:cs typeface="Calibri"/>
              </a:rPr>
              <a:t>by</a:t>
            </a:r>
            <a:r>
              <a:rPr dirty="0" sz="2450" spc="-14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43434"/>
                </a:solidFill>
                <a:latin typeface="Calibri"/>
                <a:cs typeface="Calibri"/>
              </a:rPr>
              <a:t>state </a:t>
            </a:r>
            <a:r>
              <a:rPr dirty="0" sz="2450" spc="-85">
                <a:solidFill>
                  <a:srgbClr val="383838"/>
                </a:solidFill>
                <a:latin typeface="Calibri"/>
                <a:cs typeface="Calibri"/>
              </a:rPr>
              <a:t>and</a:t>
            </a:r>
            <a:r>
              <a:rPr dirty="0" sz="2450" spc="-18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33333"/>
                </a:solidFill>
                <a:latin typeface="Calibri"/>
                <a:cs typeface="Calibri"/>
              </a:rPr>
              <a:t>city</a:t>
            </a:r>
            <a:r>
              <a:rPr dirty="0" sz="2450" spc="-1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tier.</a:t>
            </a:r>
            <a:endParaRPr sz="2450">
              <a:latin typeface="Calibri"/>
              <a:cs typeface="Calibri"/>
            </a:endParaRPr>
          </a:p>
          <a:p>
            <a:pPr marL="18415" marR="5080" indent="-5715">
              <a:lnSpc>
                <a:spcPct val="113599"/>
              </a:lnSpc>
              <a:spcBef>
                <a:spcPts val="2470"/>
              </a:spcBef>
            </a:pPr>
            <a:r>
              <a:rPr dirty="0" sz="2450">
                <a:solidFill>
                  <a:srgbClr val="383838"/>
                </a:solidFill>
                <a:latin typeface="Calibri"/>
                <a:cs typeface="Calibri"/>
              </a:rPr>
              <a:t>Age</a:t>
            </a:r>
            <a:r>
              <a:rPr dirty="0" sz="2450" spc="-204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33333"/>
                </a:solidFill>
                <a:latin typeface="Calibri"/>
                <a:cs typeface="Calibri"/>
              </a:rPr>
              <a:t>Demographics:</a:t>
            </a:r>
            <a:r>
              <a:rPr dirty="0" sz="2450" spc="5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343434"/>
                </a:solidFill>
                <a:latin typeface="Calibri"/>
                <a:cs typeface="Calibri"/>
              </a:rPr>
              <a:t>Segmentation</a:t>
            </a:r>
            <a:r>
              <a:rPr dirty="0" sz="2450" spc="4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343434"/>
                </a:solidFill>
                <a:latin typeface="Calibri"/>
                <a:cs typeface="Calibri"/>
              </a:rPr>
              <a:t>of</a:t>
            </a:r>
            <a:r>
              <a:rPr dirty="0" sz="2450" spc="-15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82828"/>
                </a:solidFill>
                <a:latin typeface="Calibri"/>
                <a:cs typeface="Calibri"/>
              </a:rPr>
              <a:t>inflows</a:t>
            </a:r>
            <a:r>
              <a:rPr dirty="0" sz="2450" spc="-114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63636"/>
                </a:solidFill>
                <a:latin typeface="Calibri"/>
                <a:cs typeface="Calibri"/>
              </a:rPr>
              <a:t>by</a:t>
            </a:r>
            <a:r>
              <a:rPr dirty="0" sz="2450" spc="-229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32323"/>
                </a:solidFill>
                <a:latin typeface="Calibri"/>
                <a:cs typeface="Calibri"/>
              </a:rPr>
              <a:t>investor </a:t>
            </a:r>
            <a:r>
              <a:rPr dirty="0" sz="2450" spc="-25">
                <a:solidFill>
                  <a:srgbClr val="343434"/>
                </a:solidFill>
                <a:latin typeface="Calibri"/>
                <a:cs typeface="Calibri"/>
              </a:rPr>
              <a:t>age </a:t>
            </a:r>
            <a:r>
              <a:rPr dirty="0" sz="2450" spc="-10">
                <a:solidFill>
                  <a:srgbClr val="282828"/>
                </a:solidFill>
                <a:latin typeface="Calibri"/>
                <a:cs typeface="Calibri"/>
              </a:rPr>
              <a:t>brackets.</a:t>
            </a:r>
            <a:endParaRPr sz="2450">
              <a:latin typeface="Calibri"/>
              <a:cs typeface="Calibri"/>
            </a:endParaRPr>
          </a:p>
          <a:p>
            <a:pPr marL="21590" marR="565150" indent="-6350">
              <a:lnSpc>
                <a:spcPct val="113599"/>
              </a:lnSpc>
              <a:spcBef>
                <a:spcPts val="2475"/>
              </a:spcBef>
            </a:pPr>
            <a:r>
              <a:rPr dirty="0" sz="2450">
                <a:solidFill>
                  <a:srgbClr val="263F56"/>
                </a:solidFill>
                <a:latin typeface="Calibri"/>
                <a:cs typeface="Calibri"/>
              </a:rPr>
              <a:t>SIP</a:t>
            </a:r>
            <a:r>
              <a:rPr dirty="0" sz="2450" spc="345">
                <a:solidFill>
                  <a:srgbClr val="263F56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232323"/>
                </a:solidFill>
                <a:latin typeface="Calibri"/>
                <a:cs typeface="Calibri"/>
              </a:rPr>
              <a:t>Trends:</a:t>
            </a:r>
            <a:r>
              <a:rPr dirty="0" sz="2450" spc="-130">
                <a:solidFill>
                  <a:srgbClr val="232323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2D2D2D"/>
                </a:solidFill>
                <a:latin typeface="Calibri"/>
                <a:cs typeface="Calibri"/>
              </a:rPr>
              <a:t>Tracking</a:t>
            </a:r>
            <a:r>
              <a:rPr dirty="0" sz="2450" spc="-114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A3A3A"/>
                </a:solidFill>
                <a:latin typeface="Calibri"/>
                <a:cs typeface="Calibri"/>
              </a:rPr>
              <a:t>monthly</a:t>
            </a:r>
            <a:r>
              <a:rPr dirty="0" sz="2450" spc="-114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2F2F2F"/>
                </a:solidFill>
                <a:latin typeface="Calibri"/>
                <a:cs typeface="Calibri"/>
              </a:rPr>
              <a:t>SIP</a:t>
            </a:r>
            <a:r>
              <a:rPr dirty="0" sz="2450" spc="21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B3B3B"/>
                </a:solidFill>
                <a:latin typeface="Calibri"/>
                <a:cs typeface="Calibri"/>
              </a:rPr>
              <a:t>inflow</a:t>
            </a:r>
            <a:r>
              <a:rPr dirty="0" sz="2450" spc="-12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83838"/>
                </a:solidFill>
                <a:latin typeface="Calibri"/>
                <a:cs typeface="Calibri"/>
              </a:rPr>
              <a:t>vs</a:t>
            </a:r>
            <a:r>
              <a:rPr dirty="0" sz="2450" spc="-14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B3B3B"/>
                </a:solidFill>
                <a:latin typeface="Calibri"/>
                <a:cs typeface="Calibri"/>
              </a:rPr>
              <a:t>Nifty</a:t>
            </a:r>
            <a:r>
              <a:rPr dirty="0" sz="2450" spc="-20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83838"/>
                </a:solidFill>
                <a:latin typeface="Calibri"/>
                <a:cs typeface="Calibri"/>
              </a:rPr>
              <a:t>market </a:t>
            </a:r>
            <a:r>
              <a:rPr dirty="0" sz="2450" spc="-10">
                <a:solidFill>
                  <a:srgbClr val="363636"/>
                </a:solidFill>
                <a:latin typeface="Calibri"/>
                <a:cs typeface="Calibri"/>
              </a:rPr>
              <a:t>shifts.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362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14453" sz="9225">
                <a:solidFill>
                  <a:srgbClr val="67A0FD"/>
                </a:solidFill>
              </a:rPr>
              <a:t>I</a:t>
            </a:r>
            <a:r>
              <a:rPr dirty="0" baseline="-14453" sz="9225" spc="1327">
                <a:solidFill>
                  <a:srgbClr val="67A0FD"/>
                </a:solidFill>
              </a:rPr>
              <a:t> </a:t>
            </a:r>
            <a:r>
              <a:rPr dirty="0" sz="6150" spc="235">
                <a:solidFill>
                  <a:srgbClr val="1C388C"/>
                </a:solidFill>
              </a:rPr>
              <a:t>Key</a:t>
            </a:r>
            <a:r>
              <a:rPr dirty="0" sz="6150" spc="-570">
                <a:solidFill>
                  <a:srgbClr val="1C388C"/>
                </a:solidFill>
              </a:rPr>
              <a:t> </a:t>
            </a:r>
            <a:r>
              <a:rPr dirty="0" baseline="3161" sz="9225" spc="104">
                <a:solidFill>
                  <a:srgbClr val="1D3A8C"/>
                </a:solidFill>
              </a:rPr>
              <a:t>Findings</a:t>
            </a:r>
            <a:r>
              <a:rPr dirty="0" baseline="3161" sz="9225" spc="337">
                <a:solidFill>
                  <a:srgbClr val="1D3A8C"/>
                </a:solidFill>
              </a:rPr>
              <a:t> </a:t>
            </a:r>
            <a:r>
              <a:rPr dirty="0" baseline="3161" sz="9225" spc="652">
                <a:solidFill>
                  <a:srgbClr val="1C3B89"/>
                </a:solidFill>
              </a:rPr>
              <a:t>&amp;</a:t>
            </a:r>
            <a:r>
              <a:rPr dirty="0" sz="6150" spc="-75">
                <a:solidFill>
                  <a:srgbClr val="1A3A8C"/>
                </a:solidFill>
              </a:rPr>
              <a:t>Futur</a:t>
            </a:r>
            <a:r>
              <a:rPr dirty="0" sz="6150" spc="-65">
                <a:solidFill>
                  <a:srgbClr val="1A3A8C"/>
                </a:solidFill>
              </a:rPr>
              <a:t>e</a:t>
            </a:r>
            <a:r>
              <a:rPr dirty="0" sz="6150" spc="-215">
                <a:solidFill>
                  <a:srgbClr val="1A3A8C"/>
                </a:solidFill>
              </a:rPr>
              <a:t> </a:t>
            </a:r>
            <a:r>
              <a:rPr dirty="0" sz="6150" spc="70">
                <a:solidFill>
                  <a:srgbClr val="183683"/>
                </a:solidFill>
              </a:rPr>
              <a:t>Scope</a:t>
            </a:r>
            <a:endParaRPr sz="6150"/>
          </a:p>
        </p:txBody>
      </p:sp>
      <p:sp>
        <p:nvSpPr>
          <p:cNvPr id="3" name="object 3"/>
          <p:cNvSpPr txBox="1"/>
          <p:nvPr/>
        </p:nvSpPr>
        <p:spPr>
          <a:xfrm>
            <a:off x="1340583" y="3351071"/>
            <a:ext cx="5045710" cy="16954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4100" spc="160">
                <a:solidFill>
                  <a:srgbClr val="1A46AF"/>
                </a:solidFill>
                <a:latin typeface="Calibri"/>
                <a:cs typeface="Calibri"/>
              </a:rPr>
              <a:t>Liquid</a:t>
            </a:r>
            <a:r>
              <a:rPr dirty="0" sz="4100" spc="-165">
                <a:solidFill>
                  <a:srgbClr val="1A46AF"/>
                </a:solidFill>
                <a:latin typeface="Calibri"/>
                <a:cs typeface="Calibri"/>
              </a:rPr>
              <a:t> </a:t>
            </a:r>
            <a:r>
              <a:rPr dirty="0" sz="4100" spc="229">
                <a:solidFill>
                  <a:srgbClr val="153FA8"/>
                </a:solidFill>
                <a:latin typeface="Calibri"/>
                <a:cs typeface="Calibri"/>
              </a:rPr>
              <a:t>Funds</a:t>
            </a:r>
            <a:endParaRPr sz="4100">
              <a:latin typeface="Calibri"/>
              <a:cs typeface="Calibri"/>
            </a:endParaRPr>
          </a:p>
          <a:p>
            <a:pPr algn="ctr" marL="12700" marR="5080">
              <a:lnSpc>
                <a:spcPct val="113599"/>
              </a:lnSpc>
              <a:spcBef>
                <a:spcPts val="1525"/>
              </a:spcBef>
            </a:pPr>
            <a:r>
              <a:rPr dirty="0" sz="2450" spc="-25">
                <a:solidFill>
                  <a:srgbClr val="282828"/>
                </a:solidFill>
                <a:latin typeface="Calibri"/>
                <a:cs typeface="Calibri"/>
              </a:rPr>
              <a:t>Attracted</a:t>
            </a:r>
            <a:r>
              <a:rPr dirty="0" sz="2450" spc="-5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2A2A2A"/>
                </a:solidFill>
                <a:latin typeface="Calibri"/>
                <a:cs typeface="Calibri"/>
              </a:rPr>
              <a:t>the</a:t>
            </a:r>
            <a:r>
              <a:rPr dirty="0" sz="2450" spc="-29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33333"/>
                </a:solidFill>
                <a:latin typeface="Calibri"/>
                <a:cs typeface="Calibri"/>
              </a:rPr>
              <a:t>highest</a:t>
            </a:r>
            <a:r>
              <a:rPr dirty="0" sz="2450" spc="-1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2D2D2D"/>
                </a:solidFill>
                <a:latin typeface="Calibri"/>
                <a:cs typeface="Calibri"/>
              </a:rPr>
              <a:t>consistent</a:t>
            </a:r>
            <a:r>
              <a:rPr dirty="0" sz="2450" spc="-5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83838"/>
                </a:solidFill>
                <a:latin typeface="Calibri"/>
                <a:cs typeface="Calibri"/>
              </a:rPr>
              <a:t>monthly </a:t>
            </a:r>
            <a:r>
              <a:rPr dirty="0" sz="2450" spc="-30">
                <a:solidFill>
                  <a:srgbClr val="343434"/>
                </a:solidFill>
                <a:latin typeface="Calibri"/>
                <a:cs typeface="Calibri"/>
              </a:rPr>
              <a:t>inflows</a:t>
            </a:r>
            <a:r>
              <a:rPr dirty="0" sz="2450" spc="-6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2A2A2A"/>
                </a:solidFill>
                <a:latin typeface="Calibri"/>
                <a:cs typeface="Calibri"/>
              </a:rPr>
              <a:t>during</a:t>
            </a:r>
            <a:r>
              <a:rPr dirty="0" sz="2450" spc="-110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F2F2F"/>
                </a:solidFill>
                <a:latin typeface="Calibri"/>
                <a:cs typeface="Calibri"/>
              </a:rPr>
              <a:t>volatility.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33405" y="6642202"/>
            <a:ext cx="7729855" cy="181228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5">
                <a:solidFill>
                  <a:srgbClr val="383838"/>
                </a:solidFill>
                <a:latin typeface="Calibri"/>
                <a:cs typeface="Calibri"/>
              </a:rPr>
              <a:t>Recommendations</a:t>
            </a:r>
            <a:r>
              <a:rPr dirty="0" sz="2450" spc="-23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2F3D5B"/>
                </a:solidFill>
                <a:latin typeface="Calibri"/>
                <a:cs typeface="Calibri"/>
              </a:rPr>
              <a:t>for</a:t>
            </a:r>
            <a:r>
              <a:rPr dirty="0" sz="2450" spc="-210">
                <a:solidFill>
                  <a:srgbClr val="2F3D5B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A3A3A"/>
                </a:solidFill>
                <a:latin typeface="Calibri"/>
                <a:cs typeface="Calibri"/>
              </a:rPr>
              <a:t>Phase</a:t>
            </a:r>
            <a:r>
              <a:rPr dirty="0" sz="2450" spc="-3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363636"/>
                </a:solidFill>
                <a:latin typeface="Calibri"/>
                <a:cs typeface="Calibri"/>
              </a:rPr>
              <a:t>II:</a:t>
            </a:r>
            <a:endParaRPr sz="2450">
              <a:latin typeface="Calibri"/>
              <a:cs typeface="Calibri"/>
            </a:endParaRPr>
          </a:p>
          <a:p>
            <a:pPr marL="38735">
              <a:lnSpc>
                <a:spcPct val="100000"/>
              </a:lnSpc>
              <a:spcBef>
                <a:spcPts val="2380"/>
              </a:spcBef>
              <a:tabLst>
                <a:tab pos="656590" algn="l"/>
              </a:tabLst>
            </a:pPr>
            <a:r>
              <a:rPr dirty="0" sz="2450" spc="-50">
                <a:solidFill>
                  <a:srgbClr val="5EA8FF"/>
                </a:solidFill>
                <a:latin typeface="Calibri"/>
                <a:cs typeface="Calibri"/>
              </a:rPr>
              <a:t>@</a:t>
            </a:r>
            <a:r>
              <a:rPr dirty="0" sz="2450">
                <a:solidFill>
                  <a:srgbClr val="5EA8FF"/>
                </a:solidFill>
                <a:latin typeface="Calibri"/>
                <a:cs typeface="Calibri"/>
              </a:rPr>
              <a:t>	</a:t>
            </a:r>
            <a:r>
              <a:rPr dirty="0" sz="2450" spc="-45">
                <a:solidFill>
                  <a:srgbClr val="383838"/>
                </a:solidFill>
                <a:latin typeface="Calibri"/>
                <a:cs typeface="Calibri"/>
              </a:rPr>
              <a:t>Integrate</a:t>
            </a:r>
            <a:r>
              <a:rPr dirty="0" sz="2450" spc="-13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43434"/>
                </a:solidFill>
                <a:latin typeface="Calibri"/>
                <a:cs typeface="Calibri"/>
              </a:rPr>
              <a:t>Live</a:t>
            </a:r>
            <a:r>
              <a:rPr dirty="0" sz="2450" spc="-21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80">
                <a:solidFill>
                  <a:srgbClr val="383838"/>
                </a:solidFill>
                <a:latin typeface="Calibri"/>
                <a:cs typeface="Calibri"/>
              </a:rPr>
              <a:t>Market</a:t>
            </a:r>
            <a:r>
              <a:rPr dirty="0" sz="2450" spc="1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60">
                <a:solidFill>
                  <a:srgbClr val="383838"/>
                </a:solidFill>
                <a:latin typeface="Calibri"/>
                <a:cs typeface="Calibri"/>
              </a:rPr>
              <a:t>APIs</a:t>
            </a:r>
            <a:r>
              <a:rPr dirty="0" sz="2450" spc="-6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D3D3D"/>
                </a:solidFill>
                <a:latin typeface="Calibri"/>
                <a:cs typeface="Calibri"/>
              </a:rPr>
              <a:t>for</a:t>
            </a:r>
            <a:r>
              <a:rPr dirty="0" sz="2450" spc="-175">
                <a:solidFill>
                  <a:srgbClr val="3D3D3D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2B2B2B"/>
                </a:solidFill>
                <a:latin typeface="Calibri"/>
                <a:cs typeface="Calibri"/>
              </a:rPr>
              <a:t>real-</a:t>
            </a:r>
            <a:r>
              <a:rPr dirty="0" sz="2450" spc="-45">
                <a:solidFill>
                  <a:srgbClr val="2B2B2B"/>
                </a:solidFill>
                <a:latin typeface="Calibri"/>
                <a:cs typeface="Calibri"/>
              </a:rPr>
              <a:t>time</a:t>
            </a:r>
            <a:r>
              <a:rPr dirty="0" sz="2450" spc="-150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A3A3A"/>
                </a:solidFill>
                <a:latin typeface="Calibri"/>
                <a:cs typeface="Calibri"/>
              </a:rPr>
              <a:t>risk</a:t>
            </a:r>
            <a:r>
              <a:rPr dirty="0" sz="2450" spc="-8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tracking.</a:t>
            </a:r>
            <a:endParaRPr sz="2450">
              <a:latin typeface="Calibri"/>
              <a:cs typeface="Calibri"/>
            </a:endParaRPr>
          </a:p>
          <a:p>
            <a:pPr marL="17780">
              <a:lnSpc>
                <a:spcPct val="100000"/>
              </a:lnSpc>
              <a:spcBef>
                <a:spcPts val="2870"/>
              </a:spcBef>
              <a:tabLst>
                <a:tab pos="656590" algn="l"/>
              </a:tabLst>
            </a:pPr>
            <a:r>
              <a:rPr dirty="0" sz="2450" spc="-25">
                <a:solidFill>
                  <a:srgbClr val="62A3F7"/>
                </a:solidFill>
                <a:latin typeface="Calibri"/>
                <a:cs typeface="Calibri"/>
              </a:rPr>
              <a:t>t§</a:t>
            </a:r>
            <a:r>
              <a:rPr dirty="0" sz="2450">
                <a:solidFill>
                  <a:srgbClr val="62A3F7"/>
                </a:solidFill>
                <a:latin typeface="Calibri"/>
                <a:cs typeface="Calibri"/>
              </a:rPr>
              <a:t>	</a:t>
            </a:r>
            <a:r>
              <a:rPr dirty="0" sz="2450" spc="-75">
                <a:solidFill>
                  <a:srgbClr val="313131"/>
                </a:solidFill>
                <a:latin typeface="Calibri"/>
                <a:cs typeface="Calibri"/>
              </a:rPr>
              <a:t>Implement</a:t>
            </a:r>
            <a:r>
              <a:rPr dirty="0" sz="2450" spc="4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90">
                <a:solidFill>
                  <a:srgbClr val="383838"/>
                </a:solidFill>
                <a:latin typeface="Calibri"/>
                <a:cs typeface="Calibri"/>
              </a:rPr>
              <a:t>ML-</a:t>
            </a:r>
            <a:r>
              <a:rPr dirty="0" sz="2450" spc="-80">
                <a:solidFill>
                  <a:srgbClr val="383838"/>
                </a:solidFill>
                <a:latin typeface="Calibri"/>
                <a:cs typeface="Calibri"/>
              </a:rPr>
              <a:t>based</a:t>
            </a:r>
            <a:r>
              <a:rPr dirty="0" sz="2450" spc="-114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2D2D2D"/>
                </a:solidFill>
                <a:latin typeface="Calibri"/>
                <a:cs typeface="Calibri"/>
              </a:rPr>
              <a:t>predictive</a:t>
            </a:r>
            <a:r>
              <a:rPr dirty="0" sz="2450" spc="-14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63636"/>
                </a:solidFill>
                <a:latin typeface="Calibri"/>
                <a:cs typeface="Calibri"/>
              </a:rPr>
              <a:t>analytics</a:t>
            </a:r>
            <a:r>
              <a:rPr dirty="0" sz="2450" spc="-1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A3A3A"/>
                </a:solidFill>
                <a:latin typeface="Calibri"/>
                <a:cs typeface="Calibri"/>
              </a:rPr>
              <a:t>for</a:t>
            </a:r>
            <a:r>
              <a:rPr dirty="0" sz="2450" spc="-180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525B6B"/>
                </a:solidFill>
                <a:latin typeface="Calibri"/>
                <a:cs typeface="Calibri"/>
              </a:rPr>
              <a:t>SIP</a:t>
            </a:r>
            <a:r>
              <a:rPr dirty="0" sz="2450" spc="155">
                <a:solidFill>
                  <a:srgbClr val="525B6B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B3B5E"/>
                </a:solidFill>
                <a:latin typeface="Calibri"/>
                <a:cs typeface="Calibri"/>
              </a:rPr>
              <a:t>behavior.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34402" y="3367432"/>
            <a:ext cx="4782820" cy="16789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dirty="0" sz="4000" spc="260">
                <a:solidFill>
                  <a:srgbClr val="1F42A8"/>
                </a:solidFill>
                <a:latin typeface="Calibri"/>
                <a:cs typeface="Calibri"/>
              </a:rPr>
              <a:t>Sharpe</a:t>
            </a:r>
            <a:r>
              <a:rPr dirty="0" sz="4000" spc="-200">
                <a:solidFill>
                  <a:srgbClr val="1F42A8"/>
                </a:solidFill>
                <a:latin typeface="Calibri"/>
                <a:cs typeface="Calibri"/>
              </a:rPr>
              <a:t> </a:t>
            </a:r>
            <a:r>
              <a:rPr dirty="0" sz="4000" spc="210">
                <a:solidFill>
                  <a:srgbClr val="1841B1"/>
                </a:solidFill>
                <a:latin typeface="Calibri"/>
                <a:cs typeface="Calibri"/>
              </a:rPr>
              <a:t>Performance</a:t>
            </a:r>
            <a:endParaRPr sz="4000">
              <a:latin typeface="Calibri"/>
              <a:cs typeface="Calibri"/>
            </a:endParaRPr>
          </a:p>
          <a:p>
            <a:pPr algn="ctr" marL="262890" marR="230504">
              <a:lnSpc>
                <a:spcPct val="113599"/>
              </a:lnSpc>
              <a:spcBef>
                <a:spcPts val="1545"/>
              </a:spcBef>
            </a:pPr>
            <a:r>
              <a:rPr dirty="0" sz="2450" spc="-60">
                <a:solidFill>
                  <a:srgbClr val="282828"/>
                </a:solidFill>
                <a:latin typeface="Calibri"/>
                <a:cs typeface="Calibri"/>
              </a:rPr>
              <a:t>Moderate-</a:t>
            </a:r>
            <a:r>
              <a:rPr dirty="0" sz="2450">
                <a:solidFill>
                  <a:srgbClr val="282828"/>
                </a:solidFill>
                <a:latin typeface="Calibri"/>
                <a:cs typeface="Calibri"/>
              </a:rPr>
              <a:t>risk</a:t>
            </a:r>
            <a:r>
              <a:rPr dirty="0" sz="2450" spc="-6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2450" spc="-60">
                <a:solidFill>
                  <a:srgbClr val="343434"/>
                </a:solidFill>
                <a:latin typeface="Calibri"/>
                <a:cs typeface="Calibri"/>
              </a:rPr>
              <a:t>funds</a:t>
            </a:r>
            <a:r>
              <a:rPr dirty="0" sz="2450" spc="-9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2D2D2D"/>
                </a:solidFill>
                <a:latin typeface="Calibri"/>
                <a:cs typeface="Calibri"/>
              </a:rPr>
              <a:t>demonstrated </a:t>
            </a:r>
            <a:r>
              <a:rPr dirty="0" sz="2450" spc="-50">
                <a:solidFill>
                  <a:srgbClr val="333333"/>
                </a:solidFill>
                <a:latin typeface="Calibri"/>
                <a:cs typeface="Calibri"/>
              </a:rPr>
              <a:t>superior</a:t>
            </a:r>
            <a:r>
              <a:rPr dirty="0" sz="2450" spc="-85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33333"/>
                </a:solidFill>
                <a:latin typeface="Calibri"/>
                <a:cs typeface="Calibri"/>
              </a:rPr>
              <a:t>risk-</a:t>
            </a:r>
            <a:r>
              <a:rPr dirty="0" sz="2450" spc="-30">
                <a:solidFill>
                  <a:srgbClr val="333333"/>
                </a:solidFill>
                <a:latin typeface="Calibri"/>
                <a:cs typeface="Calibri"/>
              </a:rPr>
              <a:t>adjusted</a:t>
            </a:r>
            <a:r>
              <a:rPr dirty="0" sz="2450" spc="-1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ratios.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25552" y="8856794"/>
            <a:ext cx="18478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50">
                <a:solidFill>
                  <a:srgbClr val="5EA1F2"/>
                </a:solidFill>
                <a:latin typeface="Calibri"/>
                <a:cs typeface="Calibri"/>
              </a:rPr>
              <a:t>B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62801" y="8793969"/>
            <a:ext cx="6537959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60">
                <a:solidFill>
                  <a:srgbClr val="2F2F2F"/>
                </a:solidFill>
                <a:latin typeface="Calibri"/>
                <a:cs typeface="Calibri"/>
              </a:rPr>
              <a:t>Web</a:t>
            </a:r>
            <a:r>
              <a:rPr dirty="0" sz="2450" spc="-140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75">
                <a:solidFill>
                  <a:srgbClr val="343434"/>
                </a:solidFill>
                <a:latin typeface="Calibri"/>
                <a:cs typeface="Calibri"/>
              </a:rPr>
              <a:t>deployment</a:t>
            </a:r>
            <a:r>
              <a:rPr dirty="0" sz="2450" spc="9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83838"/>
                </a:solidFill>
                <a:latin typeface="Calibri"/>
                <a:cs typeface="Calibri"/>
              </a:rPr>
              <a:t>for</a:t>
            </a:r>
            <a:r>
              <a:rPr dirty="0" sz="2450" spc="-15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63636"/>
                </a:solidFill>
                <a:latin typeface="Calibri"/>
                <a:cs typeface="Calibri"/>
              </a:rPr>
              <a:t>investor-facing</a:t>
            </a:r>
            <a:r>
              <a:rPr dirty="0" sz="2450" spc="-20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A3A3A"/>
                </a:solidFill>
                <a:latin typeface="Calibri"/>
                <a:cs typeface="Calibri"/>
              </a:rPr>
              <a:t>advisory</a:t>
            </a:r>
            <a:r>
              <a:rPr dirty="0" sz="2450" spc="-114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83838"/>
                </a:solidFill>
                <a:latin typeface="Calibri"/>
                <a:cs typeface="Calibri"/>
              </a:rPr>
              <a:t>models.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719939" y="3367432"/>
            <a:ext cx="5026660" cy="167893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ctr" marR="19685">
              <a:lnSpc>
                <a:spcPct val="100000"/>
              </a:lnSpc>
              <a:spcBef>
                <a:spcPts val="90"/>
              </a:spcBef>
            </a:pPr>
            <a:r>
              <a:rPr dirty="0" sz="4000" spc="270">
                <a:solidFill>
                  <a:srgbClr val="1841B1"/>
                </a:solidFill>
                <a:latin typeface="Calibri"/>
                <a:cs typeface="Calibri"/>
              </a:rPr>
              <a:t>High</a:t>
            </a:r>
            <a:r>
              <a:rPr dirty="0" sz="4000" spc="-310">
                <a:solidFill>
                  <a:srgbClr val="1841B1"/>
                </a:solidFill>
                <a:latin typeface="Calibri"/>
                <a:cs typeface="Calibri"/>
              </a:rPr>
              <a:t> </a:t>
            </a:r>
            <a:r>
              <a:rPr dirty="0" sz="4000" spc="204">
                <a:solidFill>
                  <a:srgbClr val="1A42AA"/>
                </a:solidFill>
                <a:latin typeface="Calibri"/>
                <a:cs typeface="Calibri"/>
              </a:rPr>
              <a:t>Risk</a:t>
            </a:r>
            <a:r>
              <a:rPr dirty="0" sz="4000" spc="-215">
                <a:solidFill>
                  <a:srgbClr val="1A42AA"/>
                </a:solidFill>
                <a:latin typeface="Calibri"/>
                <a:cs typeface="Calibri"/>
              </a:rPr>
              <a:t> </a:t>
            </a:r>
            <a:r>
              <a:rPr dirty="0" sz="4000" spc="295">
                <a:solidFill>
                  <a:srgbClr val="1F3FA8"/>
                </a:solidFill>
                <a:latin typeface="Calibri"/>
                <a:cs typeface="Calibri"/>
              </a:rPr>
              <a:t>Base</a:t>
            </a:r>
            <a:endParaRPr sz="4000">
              <a:latin typeface="Calibri"/>
              <a:cs typeface="Calibri"/>
            </a:endParaRPr>
          </a:p>
          <a:p>
            <a:pPr algn="ctr" marL="12700" marR="5080">
              <a:lnSpc>
                <a:spcPct val="113599"/>
              </a:lnSpc>
              <a:spcBef>
                <a:spcPts val="1545"/>
              </a:spcBef>
            </a:pPr>
            <a:r>
              <a:rPr dirty="0" sz="2450" spc="-40">
                <a:solidFill>
                  <a:srgbClr val="282828"/>
                </a:solidFill>
                <a:latin typeface="Calibri"/>
                <a:cs typeface="Calibri"/>
              </a:rPr>
              <a:t>Identified</a:t>
            </a:r>
            <a:r>
              <a:rPr dirty="0" sz="2450" spc="-105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13131"/>
                </a:solidFill>
                <a:latin typeface="Calibri"/>
                <a:cs typeface="Calibri"/>
              </a:rPr>
              <a:t>that</a:t>
            </a:r>
            <a:r>
              <a:rPr dirty="0" sz="2450" spc="-7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43434"/>
                </a:solidFill>
                <a:latin typeface="Calibri"/>
                <a:cs typeface="Calibri"/>
              </a:rPr>
              <a:t>-</a:t>
            </a:r>
            <a:r>
              <a:rPr dirty="0" sz="2450" spc="95">
                <a:solidFill>
                  <a:srgbClr val="343434"/>
                </a:solidFill>
                <a:latin typeface="Calibri"/>
                <a:cs typeface="Calibri"/>
              </a:rPr>
              <a:t>30%</a:t>
            </a:r>
            <a:r>
              <a:rPr dirty="0" sz="2450" spc="-15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363636"/>
                </a:solidFill>
                <a:latin typeface="Calibri"/>
                <a:cs typeface="Calibri"/>
              </a:rPr>
              <a:t>of</a:t>
            </a:r>
            <a:r>
              <a:rPr dirty="0" sz="2450" spc="-17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90">
                <a:solidFill>
                  <a:srgbClr val="313131"/>
                </a:solidFill>
                <a:latin typeface="Calibri"/>
                <a:cs typeface="Calibri"/>
              </a:rPr>
              <a:t>new</a:t>
            </a:r>
            <a:r>
              <a:rPr dirty="0" sz="2450" spc="-114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2D2D2D"/>
                </a:solidFill>
                <a:latin typeface="Calibri"/>
                <a:cs typeface="Calibri"/>
              </a:rPr>
              <a:t>investors</a:t>
            </a:r>
            <a:r>
              <a:rPr dirty="0" sz="2450" spc="1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-25">
                <a:solidFill>
                  <a:srgbClr val="363636"/>
                </a:solidFill>
                <a:latin typeface="Calibri"/>
                <a:cs typeface="Calibri"/>
              </a:rPr>
              <a:t>are </a:t>
            </a:r>
            <a:r>
              <a:rPr dirty="0" sz="2450" spc="-50">
                <a:solidFill>
                  <a:srgbClr val="363636"/>
                </a:solidFill>
                <a:latin typeface="Calibri"/>
                <a:cs typeface="Calibri"/>
              </a:rPr>
              <a:t>at</a:t>
            </a:r>
            <a:r>
              <a:rPr dirty="0" sz="2450" spc="-17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464646"/>
                </a:solidFill>
                <a:latin typeface="Calibri"/>
                <a:cs typeface="Calibri"/>
              </a:rPr>
              <a:t>high</a:t>
            </a:r>
            <a:r>
              <a:rPr dirty="0" sz="2450" spc="-185">
                <a:solidFill>
                  <a:srgbClr val="464646"/>
                </a:solidFill>
                <a:latin typeface="Calibri"/>
                <a:cs typeface="Calibri"/>
              </a:rPr>
              <a:t> </a:t>
            </a:r>
            <a:r>
              <a:rPr dirty="0" sz="2450">
                <a:solidFill>
                  <a:srgbClr val="3B3B3B"/>
                </a:solidFill>
                <a:latin typeface="Calibri"/>
                <a:cs typeface="Calibri"/>
              </a:rPr>
              <a:t>risk</a:t>
            </a:r>
            <a:r>
              <a:rPr dirty="0" sz="2450" spc="-17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3B3B3B"/>
                </a:solidFill>
                <a:latin typeface="Calibri"/>
                <a:cs typeface="Calibri"/>
              </a:rPr>
              <a:t>of</a:t>
            </a:r>
            <a:r>
              <a:rPr dirty="0" sz="2450" spc="-12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83838"/>
                </a:solidFill>
                <a:latin typeface="Calibri"/>
                <a:cs typeface="Calibri"/>
              </a:rPr>
              <a:t>early</a:t>
            </a:r>
            <a:r>
              <a:rPr dirty="0" sz="2450" spc="-125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churn.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86627" rIns="0" bIns="0" rtlCol="0" vert="horz">
            <a:spAutoFit/>
          </a:bodyPr>
          <a:lstStyle/>
          <a:p>
            <a:pPr marL="5838190">
              <a:lnSpc>
                <a:spcPct val="100000"/>
              </a:lnSpc>
              <a:spcBef>
                <a:spcPts val="135"/>
              </a:spcBef>
            </a:pPr>
            <a:r>
              <a:rPr dirty="0" sz="8850" spc="320">
                <a:solidFill>
                  <a:srgbClr val="1D3B8A"/>
                </a:solidFill>
              </a:rPr>
              <a:t>CONCLUSION</a:t>
            </a:r>
            <a:endParaRPr sz="8850"/>
          </a:p>
        </p:txBody>
      </p:sp>
      <p:sp>
        <p:nvSpPr>
          <p:cNvPr id="3" name="object 3"/>
          <p:cNvSpPr txBox="1"/>
          <p:nvPr/>
        </p:nvSpPr>
        <p:spPr>
          <a:xfrm>
            <a:off x="5488055" y="3307879"/>
            <a:ext cx="9093835" cy="535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-114">
                <a:solidFill>
                  <a:srgbClr val="7277A5"/>
                </a:solidFill>
                <a:latin typeface="Calibri"/>
                <a:cs typeface="Calibri"/>
              </a:rPr>
              <a:t>Empowering</a:t>
            </a:r>
            <a:r>
              <a:rPr dirty="0" sz="3350" spc="-35">
                <a:solidFill>
                  <a:srgbClr val="7277A5"/>
                </a:solidFill>
                <a:latin typeface="Calibri"/>
                <a:cs typeface="Calibri"/>
              </a:rPr>
              <a:t> </a:t>
            </a:r>
            <a:r>
              <a:rPr dirty="0" sz="3350" spc="-85">
                <a:solidFill>
                  <a:srgbClr val="757575"/>
                </a:solidFill>
                <a:latin typeface="Calibri"/>
                <a:cs typeface="Calibri"/>
              </a:rPr>
              <a:t>stakeholders</a:t>
            </a:r>
            <a:r>
              <a:rPr dirty="0" sz="3350" spc="-75">
                <a:solidFill>
                  <a:srgbClr val="757575"/>
                </a:solidFill>
                <a:latin typeface="Calibri"/>
                <a:cs typeface="Calibri"/>
              </a:rPr>
              <a:t> </a:t>
            </a:r>
            <a:r>
              <a:rPr dirty="0" sz="3350" spc="-100">
                <a:solidFill>
                  <a:srgbClr val="5B758E"/>
                </a:solidFill>
                <a:latin typeface="Calibri"/>
                <a:cs typeface="Calibri"/>
              </a:rPr>
              <a:t>with</a:t>
            </a:r>
            <a:r>
              <a:rPr dirty="0" sz="3350" spc="-145">
                <a:solidFill>
                  <a:srgbClr val="5B758E"/>
                </a:solidFill>
                <a:latin typeface="Calibri"/>
                <a:cs typeface="Calibri"/>
              </a:rPr>
              <a:t> </a:t>
            </a:r>
            <a:r>
              <a:rPr dirty="0" sz="3350" spc="-100">
                <a:solidFill>
                  <a:srgbClr val="6B6B6B"/>
                </a:solidFill>
                <a:latin typeface="Calibri"/>
                <a:cs typeface="Calibri"/>
              </a:rPr>
              <a:t>data-</a:t>
            </a:r>
            <a:r>
              <a:rPr dirty="0" sz="3350" spc="-70">
                <a:solidFill>
                  <a:srgbClr val="6B6B6B"/>
                </a:solidFill>
                <a:latin typeface="Calibri"/>
                <a:cs typeface="Calibri"/>
              </a:rPr>
              <a:t>driven</a:t>
            </a:r>
            <a:r>
              <a:rPr dirty="0" sz="3350" spc="-25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dirty="0" sz="3350" spc="-70">
                <a:solidFill>
                  <a:srgbClr val="72808E"/>
                </a:solidFill>
                <a:latin typeface="Calibri"/>
                <a:cs typeface="Calibri"/>
              </a:rPr>
              <a:t>intelligence.</a:t>
            </a:r>
            <a:endParaRPr sz="33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11138" y="5114762"/>
            <a:ext cx="16060419" cy="873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02280" marR="5080" indent="-2990215">
              <a:lnSpc>
                <a:spcPct val="113599"/>
              </a:lnSpc>
              <a:spcBef>
                <a:spcPts val="100"/>
              </a:spcBef>
            </a:pPr>
            <a:r>
              <a:rPr dirty="0" sz="2450">
                <a:solidFill>
                  <a:srgbClr val="383838"/>
                </a:solidFill>
                <a:latin typeface="Calibri"/>
                <a:cs typeface="Calibri"/>
              </a:rPr>
              <a:t>This</a:t>
            </a:r>
            <a:r>
              <a:rPr dirty="0" sz="2450" spc="-16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2A2A2A"/>
                </a:solidFill>
                <a:latin typeface="Calibri"/>
                <a:cs typeface="Calibri"/>
              </a:rPr>
              <a:t>project</a:t>
            </a:r>
            <a:r>
              <a:rPr dirty="0" sz="2450" spc="-114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450" spc="-50">
                <a:solidFill>
                  <a:srgbClr val="262626"/>
                </a:solidFill>
                <a:latin typeface="Calibri"/>
                <a:cs typeface="Calibri"/>
              </a:rPr>
              <a:t>demonstrates</a:t>
            </a:r>
            <a:r>
              <a:rPr dirty="0" sz="2450" spc="90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343434"/>
                </a:solidFill>
                <a:latin typeface="Calibri"/>
                <a:cs typeface="Calibri"/>
              </a:rPr>
              <a:t>an</a:t>
            </a:r>
            <a:r>
              <a:rPr dirty="0" sz="2450" spc="-23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80">
                <a:solidFill>
                  <a:srgbClr val="2B2B2B"/>
                </a:solidFill>
                <a:latin typeface="Calibri"/>
                <a:cs typeface="Calibri"/>
              </a:rPr>
              <a:t>end-</a:t>
            </a:r>
            <a:r>
              <a:rPr dirty="0" sz="2450" spc="-70">
                <a:solidFill>
                  <a:srgbClr val="2B2B2B"/>
                </a:solidFill>
                <a:latin typeface="Calibri"/>
                <a:cs typeface="Calibri"/>
              </a:rPr>
              <a:t>to-</a:t>
            </a:r>
            <a:r>
              <a:rPr dirty="0" sz="2450" spc="-45">
                <a:solidFill>
                  <a:srgbClr val="2B2B2B"/>
                </a:solidFill>
                <a:latin typeface="Calibri"/>
                <a:cs typeface="Calibri"/>
              </a:rPr>
              <a:t>end</a:t>
            </a:r>
            <a:r>
              <a:rPr dirty="0" sz="2450" spc="15">
                <a:solidFill>
                  <a:srgbClr val="2B2B2B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2F2F2F"/>
                </a:solidFill>
                <a:latin typeface="Calibri"/>
                <a:cs typeface="Calibri"/>
              </a:rPr>
              <a:t>analytics</a:t>
            </a:r>
            <a:r>
              <a:rPr dirty="0" sz="2450" spc="5">
                <a:solidFill>
                  <a:srgbClr val="2F2F2F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2D2D2D"/>
                </a:solidFill>
                <a:latin typeface="Calibri"/>
                <a:cs typeface="Calibri"/>
              </a:rPr>
              <a:t>capability—</a:t>
            </a:r>
            <a:r>
              <a:rPr dirty="0" sz="2450" spc="-60">
                <a:solidFill>
                  <a:srgbClr val="2D2D2D"/>
                </a:solidFill>
                <a:latin typeface="Calibri"/>
                <a:cs typeface="Calibri"/>
              </a:rPr>
              <a:t>from</a:t>
            </a:r>
            <a:r>
              <a:rPr dirty="0" sz="2450" spc="-185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450" spc="85">
                <a:solidFill>
                  <a:srgbClr val="3B3B3B"/>
                </a:solidFill>
                <a:latin typeface="Calibri"/>
                <a:cs typeface="Calibri"/>
              </a:rPr>
              <a:t>ETL</a:t>
            </a:r>
            <a:r>
              <a:rPr dirty="0" sz="2450" spc="-165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343434"/>
                </a:solidFill>
                <a:latin typeface="Calibri"/>
                <a:cs typeface="Calibri"/>
              </a:rPr>
              <a:t>and</a:t>
            </a:r>
            <a:r>
              <a:rPr dirty="0" sz="2450" spc="-19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85">
                <a:solidFill>
                  <a:srgbClr val="343434"/>
                </a:solidFill>
                <a:latin typeface="Calibri"/>
                <a:cs typeface="Calibri"/>
              </a:rPr>
              <a:t>SQL</a:t>
            </a:r>
            <a:r>
              <a:rPr dirty="0" sz="2450" spc="-180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2450" spc="-35">
                <a:solidFill>
                  <a:srgbClr val="333333"/>
                </a:solidFill>
                <a:latin typeface="Calibri"/>
                <a:cs typeface="Calibri"/>
              </a:rPr>
              <a:t>integration</a:t>
            </a:r>
            <a:r>
              <a:rPr dirty="0" sz="2450" spc="-3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2450" spc="-30">
                <a:solidFill>
                  <a:srgbClr val="363636"/>
                </a:solidFill>
                <a:latin typeface="Calibri"/>
                <a:cs typeface="Calibri"/>
              </a:rPr>
              <a:t>to</a:t>
            </a:r>
            <a:r>
              <a:rPr dirty="0" sz="2450" spc="-18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90">
                <a:solidFill>
                  <a:srgbClr val="363636"/>
                </a:solidFill>
                <a:latin typeface="Calibri"/>
                <a:cs typeface="Calibri"/>
              </a:rPr>
              <a:t>advanced </a:t>
            </a:r>
            <a:r>
              <a:rPr dirty="0" sz="2450">
                <a:solidFill>
                  <a:srgbClr val="494949"/>
                </a:solidFill>
                <a:latin typeface="Calibri"/>
                <a:cs typeface="Calibri"/>
              </a:rPr>
              <a:t>risk</a:t>
            </a:r>
            <a:r>
              <a:rPr dirty="0" sz="2450" spc="-220">
                <a:solidFill>
                  <a:srgbClr val="494949"/>
                </a:solidFill>
                <a:latin typeface="Calibri"/>
                <a:cs typeface="Calibri"/>
              </a:rPr>
              <a:t> </a:t>
            </a:r>
            <a:r>
              <a:rPr dirty="0" sz="2450" spc="-55">
                <a:solidFill>
                  <a:srgbClr val="262626"/>
                </a:solidFill>
                <a:latin typeface="Calibri"/>
                <a:cs typeface="Calibri"/>
              </a:rPr>
              <a:t>modeling</a:t>
            </a:r>
            <a:r>
              <a:rPr dirty="0" sz="2450" spc="-5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2450" spc="-85">
                <a:solidFill>
                  <a:srgbClr val="363636"/>
                </a:solidFill>
                <a:latin typeface="Calibri"/>
                <a:cs typeface="Calibri"/>
              </a:rPr>
              <a:t>and</a:t>
            </a:r>
            <a:r>
              <a:rPr dirty="0" sz="2450" spc="-22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2B2B2B"/>
                </a:solidFill>
                <a:latin typeface="Calibri"/>
                <a:cs typeface="Calibri"/>
              </a:rPr>
              <a:t>business </a:t>
            </a:r>
            <a:r>
              <a:rPr dirty="0" sz="2450" spc="-55">
                <a:solidFill>
                  <a:srgbClr val="2F2F2F"/>
                </a:solidFill>
                <a:latin typeface="Calibri"/>
                <a:cs typeface="Calibri"/>
              </a:rPr>
              <a:t>intelligence—</a:t>
            </a:r>
            <a:r>
              <a:rPr dirty="0" sz="2450" spc="-40">
                <a:solidFill>
                  <a:srgbClr val="2F2F2F"/>
                </a:solidFill>
                <a:latin typeface="Calibri"/>
                <a:cs typeface="Calibri"/>
              </a:rPr>
              <a:t>generating</a:t>
            </a:r>
            <a:r>
              <a:rPr dirty="0" sz="2450" spc="-40">
                <a:solidFill>
                  <a:srgbClr val="313131"/>
                </a:solidFill>
                <a:latin typeface="Calibri"/>
                <a:cs typeface="Calibri"/>
              </a:rPr>
              <a:t>high-</a:t>
            </a:r>
            <a:r>
              <a:rPr dirty="0" sz="2450" spc="-50">
                <a:solidFill>
                  <a:srgbClr val="313131"/>
                </a:solidFill>
                <a:latin typeface="Calibri"/>
                <a:cs typeface="Calibri"/>
              </a:rPr>
              <a:t>value</a:t>
            </a:r>
            <a:r>
              <a:rPr dirty="0" sz="2450" spc="-25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A3A3A"/>
                </a:solidFill>
                <a:latin typeface="Calibri"/>
                <a:cs typeface="Calibri"/>
              </a:rPr>
              <a:t>insights</a:t>
            </a:r>
            <a:r>
              <a:rPr dirty="0" sz="2450" spc="25">
                <a:solidFill>
                  <a:srgbClr val="3A3A3A"/>
                </a:solidFill>
                <a:latin typeface="Calibri"/>
                <a:cs typeface="Calibri"/>
              </a:rPr>
              <a:t> </a:t>
            </a:r>
            <a:r>
              <a:rPr dirty="0" sz="2450" spc="-20">
                <a:solidFill>
                  <a:srgbClr val="3B3B3B"/>
                </a:solidFill>
                <a:latin typeface="Calibri"/>
                <a:cs typeface="Calibri"/>
              </a:rPr>
              <a:t>for</a:t>
            </a:r>
            <a:r>
              <a:rPr dirty="0" sz="2450" spc="-9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83838"/>
                </a:solidFill>
                <a:latin typeface="Calibri"/>
                <a:cs typeface="Calibri"/>
              </a:rPr>
              <a:t>the</a:t>
            </a:r>
            <a:r>
              <a:rPr dirty="0" sz="2450" spc="-170">
                <a:solidFill>
                  <a:srgbClr val="383838"/>
                </a:solidFill>
                <a:latin typeface="Calibri"/>
                <a:cs typeface="Calibri"/>
              </a:rPr>
              <a:t> </a:t>
            </a:r>
            <a:r>
              <a:rPr dirty="0" sz="2450" spc="-45">
                <a:solidFill>
                  <a:srgbClr val="363636"/>
                </a:solidFill>
                <a:latin typeface="Calibri"/>
                <a:cs typeface="Calibri"/>
              </a:rPr>
              <a:t>Indian</a:t>
            </a:r>
            <a:r>
              <a:rPr dirty="0" sz="2450" spc="-10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40">
                <a:solidFill>
                  <a:srgbClr val="313131"/>
                </a:solidFill>
                <a:latin typeface="Calibri"/>
                <a:cs typeface="Calibri"/>
              </a:rPr>
              <a:t>Mutual</a:t>
            </a:r>
            <a:r>
              <a:rPr dirty="0" sz="2450" spc="-30">
                <a:solidFill>
                  <a:srgbClr val="313131"/>
                </a:solidFill>
                <a:latin typeface="Calibri"/>
                <a:cs typeface="Calibri"/>
              </a:rPr>
              <a:t> </a:t>
            </a:r>
            <a:r>
              <a:rPr dirty="0" sz="2450" spc="-75">
                <a:solidFill>
                  <a:srgbClr val="3B3B3B"/>
                </a:solidFill>
                <a:latin typeface="Calibri"/>
                <a:cs typeface="Calibri"/>
              </a:rPr>
              <a:t>Fund</a:t>
            </a:r>
            <a:r>
              <a:rPr dirty="0" sz="2450" spc="-13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83838"/>
                </a:solidFill>
                <a:latin typeface="Calibri"/>
                <a:cs typeface="Calibri"/>
              </a:rPr>
              <a:t>ecosystem.</a:t>
            </a:r>
            <a:endParaRPr sz="2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2831" y="7449114"/>
            <a:ext cx="4526280" cy="19951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20"/>
              </a:spcBef>
            </a:pPr>
            <a:r>
              <a:rPr dirty="0" sz="7450" spc="250">
                <a:solidFill>
                  <a:srgbClr val="5EA5FB"/>
                </a:solidFill>
                <a:latin typeface="Calibri"/>
                <a:cs typeface="Calibri"/>
              </a:rPr>
              <a:t>Thank</a:t>
            </a:r>
            <a:r>
              <a:rPr dirty="0" sz="7450" spc="-135">
                <a:solidFill>
                  <a:srgbClr val="5EA5FB"/>
                </a:solidFill>
                <a:latin typeface="Calibri"/>
                <a:cs typeface="Calibri"/>
              </a:rPr>
              <a:t> </a:t>
            </a:r>
            <a:r>
              <a:rPr dirty="0" sz="7450" spc="270">
                <a:solidFill>
                  <a:srgbClr val="62A3F9"/>
                </a:solidFill>
                <a:latin typeface="Calibri"/>
                <a:cs typeface="Calibri"/>
              </a:rPr>
              <a:t>You</a:t>
            </a:r>
            <a:r>
              <a:rPr dirty="0" sz="4500" spc="270">
                <a:solidFill>
                  <a:srgbClr val="62A3F9"/>
                </a:solidFill>
                <a:latin typeface="Calibri"/>
                <a:cs typeface="Calibri"/>
              </a:rPr>
              <a:t>!</a:t>
            </a:r>
            <a:endParaRPr sz="4500">
              <a:latin typeface="Calibri"/>
              <a:cs typeface="Calibri"/>
            </a:endParaRPr>
          </a:p>
          <a:p>
            <a:pPr algn="ctr" marL="31750">
              <a:lnSpc>
                <a:spcPct val="100000"/>
              </a:lnSpc>
              <a:spcBef>
                <a:spcPts val="3604"/>
              </a:spcBef>
            </a:pPr>
            <a:r>
              <a:rPr dirty="0" sz="2450" spc="-20">
                <a:solidFill>
                  <a:srgbClr val="363636"/>
                </a:solidFill>
                <a:latin typeface="Calibri"/>
                <a:cs typeface="Calibri"/>
              </a:rPr>
              <a:t>Questions</a:t>
            </a:r>
            <a:r>
              <a:rPr dirty="0" sz="2450" spc="-90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2450" spc="-140">
                <a:solidFill>
                  <a:srgbClr val="334254"/>
                </a:solidFill>
                <a:latin typeface="Calibri"/>
                <a:cs typeface="Calibri"/>
              </a:rPr>
              <a:t>&amp;</a:t>
            </a:r>
            <a:r>
              <a:rPr dirty="0" sz="2450" spc="-210">
                <a:solidFill>
                  <a:srgbClr val="334254"/>
                </a:solidFill>
                <a:latin typeface="Calibri"/>
                <a:cs typeface="Calibri"/>
              </a:rPr>
              <a:t> </a:t>
            </a:r>
            <a:r>
              <a:rPr dirty="0" sz="2450" spc="-10">
                <a:solidFill>
                  <a:srgbClr val="313131"/>
                </a:solidFill>
                <a:latin typeface="Calibri"/>
                <a:cs typeface="Calibri"/>
              </a:rPr>
              <a:t>Discussion</a:t>
            </a:r>
            <a:endParaRPr sz="24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994247" y="11198611"/>
            <a:ext cx="3110230" cy="55244"/>
          </a:xfrm>
          <a:custGeom>
            <a:avLst/>
            <a:gdLst/>
            <a:ahLst/>
            <a:cxnLst/>
            <a:rect l="l" t="t" r="r" b="b"/>
            <a:pathLst>
              <a:path w="3110230" h="55245">
                <a:moveTo>
                  <a:pt x="3109853" y="54972"/>
                </a:moveTo>
                <a:lnTo>
                  <a:pt x="0" y="54972"/>
                </a:lnTo>
                <a:lnTo>
                  <a:pt x="0" y="0"/>
                </a:lnTo>
                <a:lnTo>
                  <a:pt x="3109853" y="0"/>
                </a:lnTo>
                <a:lnTo>
                  <a:pt x="3109853" y="54972"/>
                </a:lnTo>
                <a:close/>
              </a:path>
            </a:pathLst>
          </a:custGeom>
          <a:solidFill>
            <a:srgbClr val="1F388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92101" y="7040361"/>
            <a:ext cx="17198975" cy="0"/>
          </a:xfrm>
          <a:custGeom>
            <a:avLst/>
            <a:gdLst/>
            <a:ahLst/>
            <a:cxnLst/>
            <a:rect l="l" t="t" r="r" b="b"/>
            <a:pathLst>
              <a:path w="17198975" h="0">
                <a:moveTo>
                  <a:pt x="0" y="0"/>
                </a:moveTo>
                <a:lnTo>
                  <a:pt x="17198430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492101" y="5768149"/>
            <a:ext cx="17198975" cy="0"/>
          </a:xfrm>
          <a:custGeom>
            <a:avLst/>
            <a:gdLst/>
            <a:ahLst/>
            <a:cxnLst/>
            <a:rect l="l" t="t" r="r" b="b"/>
            <a:pathLst>
              <a:path w="17198975" h="0">
                <a:moveTo>
                  <a:pt x="0" y="0"/>
                </a:moveTo>
                <a:lnTo>
                  <a:pt x="17198430" y="0"/>
                </a:lnTo>
              </a:path>
            </a:pathLst>
          </a:custGeom>
          <a:ln w="23559">
            <a:solidFill>
              <a:srgbClr val="74747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688" y="4774723"/>
            <a:ext cx="1413569" cy="7853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0688" y="7319148"/>
            <a:ext cx="1413569" cy="785316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437" rIns="0" bIns="0" rtlCol="0" vert="horz">
            <a:spAutoFit/>
          </a:bodyPr>
          <a:lstStyle/>
          <a:p>
            <a:pPr marL="539115">
              <a:lnSpc>
                <a:spcPct val="100000"/>
              </a:lnSpc>
              <a:spcBef>
                <a:spcPts val="140"/>
              </a:spcBef>
            </a:pPr>
            <a:r>
              <a:rPr dirty="0" spc="440">
                <a:solidFill>
                  <a:srgbClr val="1C388C"/>
                </a:solidFill>
              </a:rPr>
              <a:t>Imoge</a:t>
            </a:r>
            <a:r>
              <a:rPr dirty="0" spc="-235">
                <a:solidFill>
                  <a:srgbClr val="1C388C"/>
                </a:solidFill>
              </a:rPr>
              <a:t> </a:t>
            </a:r>
            <a:r>
              <a:rPr dirty="0" spc="330"/>
              <a:t>Sources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244958" y="4760714"/>
            <a:ext cx="12459335" cy="740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solidFill>
                  <a:srgbClr val="232323"/>
                </a:solidFill>
                <a:latin typeface="Calibri"/>
                <a:cs typeface="Calibri"/>
                <a:hlinkClick r:id="rId4"/>
              </a:rPr>
              <a:t>https://static.vecteezy.com/system/resources/previews/0ó8/ó3ó/574/non</a:t>
            </a:r>
            <a:r>
              <a:rPr dirty="0" sz="1800" spc="210">
                <a:solidFill>
                  <a:srgbClr val="232323"/>
                </a:solidFill>
                <a:latin typeface="Calibri"/>
                <a:cs typeface="Calibri"/>
              </a:rPr>
              <a:t>  </a:t>
            </a:r>
            <a:r>
              <a:rPr dirty="0" sz="1800" spc="-35">
                <a:solidFill>
                  <a:srgbClr val="282828"/>
                </a:solidFill>
                <a:latin typeface="Calibri"/>
                <a:cs typeface="Calibri"/>
              </a:rPr>
              <a:t>2x/dynamic-financiaI-data-visuaIization-</a:t>
            </a:r>
            <a:r>
              <a:rPr dirty="0" sz="1800" spc="-40">
                <a:solidFill>
                  <a:srgbClr val="282828"/>
                </a:solidFill>
                <a:latin typeface="Calibri"/>
                <a:cs typeface="Calibri"/>
              </a:rPr>
              <a:t>background-</a:t>
            </a:r>
            <a:r>
              <a:rPr dirty="0" sz="1800" spc="-10">
                <a:solidFill>
                  <a:srgbClr val="282828"/>
                </a:solidFill>
                <a:latin typeface="Calibri"/>
                <a:cs typeface="Calibri"/>
              </a:rPr>
              <a:t>vector.jpg</a:t>
            </a:r>
            <a:endParaRPr sz="1800">
              <a:latin typeface="Calibri"/>
              <a:cs typeface="Calibri"/>
            </a:endParaRPr>
          </a:p>
          <a:p>
            <a:pPr marL="13970">
              <a:lnSpc>
                <a:spcPct val="100000"/>
              </a:lnSpc>
              <a:spcBef>
                <a:spcPts val="1305"/>
              </a:spcBef>
            </a:pPr>
            <a:r>
              <a:rPr dirty="0" sz="1800" spc="95">
                <a:solidFill>
                  <a:srgbClr val="282828"/>
                </a:solidFill>
                <a:latin typeface="Calibri"/>
                <a:cs typeface="Calibri"/>
              </a:rPr>
              <a:t>Source:</a:t>
            </a:r>
            <a:r>
              <a:rPr dirty="0" sz="1800" spc="-30">
                <a:solidFill>
                  <a:srgbClr val="282828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4D42D1"/>
                </a:solidFill>
                <a:latin typeface="Calibri"/>
                <a:cs typeface="Calibri"/>
                <a:hlinkClick r:id="rId5"/>
              </a:rPr>
              <a:t>www.vecteezy.com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02990" y="5917257"/>
            <a:ext cx="1275715" cy="86233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50165">
              <a:lnSpc>
                <a:spcPct val="100000"/>
              </a:lnSpc>
              <a:spcBef>
                <a:spcPts val="1015"/>
              </a:spcBef>
            </a:pPr>
            <a:r>
              <a:rPr dirty="0" sz="1800">
                <a:solidFill>
                  <a:srgbClr val="6B6B6B"/>
                </a:solidFill>
                <a:latin typeface="Calibri"/>
                <a:cs typeface="Calibri"/>
              </a:rPr>
              <a:t>t—</a:t>
            </a:r>
            <a:r>
              <a:rPr dirty="0" sz="1800" spc="-100">
                <a:solidFill>
                  <a:srgbClr val="6B6B6B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808080"/>
                </a:solidFill>
                <a:latin typeface="Calibri"/>
                <a:cs typeface="Calibri"/>
              </a:rPr>
              <a:t>“-</a:t>
            </a:r>
            <a:r>
              <a:rPr dirty="0" sz="1800" spc="95">
                <a:solidFill>
                  <a:srgbClr val="808080"/>
                </a:solidFill>
                <a:latin typeface="Calibri"/>
                <a:cs typeface="Calibri"/>
              </a:rPr>
              <a:t>  </a:t>
            </a:r>
            <a:r>
              <a:rPr dirty="0" sz="1800" spc="-10">
                <a:solidFill>
                  <a:srgbClr val="808080"/>
                </a:solidFill>
                <a:latin typeface="Calibri"/>
                <a:cs typeface="Calibri"/>
              </a:rPr>
              <a:t>-“'t—</a:t>
            </a:r>
            <a:r>
              <a:rPr dirty="0" sz="1800" spc="-50">
                <a:solidFill>
                  <a:srgbClr val="808080"/>
                </a:solidFill>
                <a:latin typeface="Calibri"/>
                <a:cs typeface="Calibri"/>
              </a:rPr>
              <a:t>“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  <a:tabLst>
                <a:tab pos="405130" algn="l"/>
                <a:tab pos="1022350" algn="l"/>
              </a:tabLst>
            </a:pPr>
            <a:r>
              <a:rPr dirty="0" sz="2050" spc="-25">
                <a:solidFill>
                  <a:srgbClr val="797979"/>
                </a:solidFill>
                <a:latin typeface="Calibri"/>
                <a:cs typeface="Calibri"/>
              </a:rPr>
              <a:t>'“</a:t>
            </a:r>
            <a:r>
              <a:rPr dirty="0" sz="2050">
                <a:solidFill>
                  <a:srgbClr val="797979"/>
                </a:solidFill>
                <a:latin typeface="Calibri"/>
                <a:cs typeface="Calibri"/>
              </a:rPr>
              <a:t>	</a:t>
            </a:r>
            <a:r>
              <a:rPr dirty="0" sz="2050" spc="-25">
                <a:solidFill>
                  <a:srgbClr val="7E7E7E"/>
                </a:solidFill>
                <a:latin typeface="Calibri"/>
                <a:cs typeface="Calibri"/>
              </a:rPr>
              <a:t>'.</a:t>
            </a:r>
            <a:r>
              <a:rPr dirty="0" sz="2050">
                <a:solidFill>
                  <a:srgbClr val="7E7E7E"/>
                </a:solidFill>
                <a:latin typeface="Calibri"/>
                <a:cs typeface="Calibri"/>
              </a:rPr>
              <a:t>	</a:t>
            </a:r>
            <a:r>
              <a:rPr dirty="0" sz="2050" spc="-25">
                <a:solidFill>
                  <a:srgbClr val="6E6E6E"/>
                </a:solidFill>
                <a:latin typeface="Calibri"/>
                <a:cs typeface="Calibri"/>
              </a:rPr>
              <a:t>,'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44958" y="5917257"/>
            <a:ext cx="15396844" cy="86233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800" spc="-30">
                <a:solidFill>
                  <a:srgbClr val="212121"/>
                </a:solidFill>
                <a:latin typeface="Calibri"/>
                <a:cs typeface="Calibri"/>
                <a:hlinkClick r:id="rId6"/>
              </a:rPr>
              <a:t>https://cdn.prod.website-</a:t>
            </a:r>
            <a:r>
              <a:rPr dirty="0" sz="1800" spc="-25">
                <a:solidFill>
                  <a:srgbClr val="212121"/>
                </a:solidFill>
                <a:latin typeface="Calibri"/>
                <a:cs typeface="Calibri"/>
                <a:hlinkClick r:id="rId6"/>
              </a:rPr>
              <a:t>files.com/óóe5b5Oec3880ff24ac7aOaó/ó73b5a833fdeoc9d149</a:t>
            </a:r>
            <a:r>
              <a:rPr dirty="0" sz="1800" spc="-25">
                <a:solidFill>
                  <a:srgbClr val="262626"/>
                </a:solidFill>
                <a:latin typeface="Calibri"/>
                <a:cs typeface="Calibri"/>
              </a:rPr>
              <a:t>1be2b</a:t>
            </a:r>
            <a:r>
              <a:rPr dirty="0" sz="1800" spc="204">
                <a:solidFill>
                  <a:srgbClr val="262626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43434"/>
                </a:solidFill>
                <a:latin typeface="Calibri"/>
                <a:cs typeface="Calibri"/>
              </a:rPr>
              <a:t>ó73b59fcda48cfdbf5893afb</a:t>
            </a:r>
            <a:r>
              <a:rPr dirty="0" sz="1800" spc="125">
                <a:solidFill>
                  <a:srgbClr val="343434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B3B3B"/>
                </a:solidFill>
                <a:latin typeface="Calibri"/>
                <a:cs typeface="Calibri"/>
              </a:rPr>
              <a:t>Ebook</a:t>
            </a:r>
            <a:r>
              <a:rPr dirty="0" sz="1800" spc="35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dirty="0" sz="1800">
                <a:solidFill>
                  <a:srgbClr val="333333"/>
                </a:solidFill>
                <a:latin typeface="Calibri"/>
                <a:cs typeface="Calibri"/>
              </a:rPr>
              <a:t>Investor</a:t>
            </a:r>
            <a:r>
              <a:rPr dirty="0" sz="1800" spc="290">
                <a:solidFill>
                  <a:srgbClr val="333333"/>
                </a:solidFill>
                <a:latin typeface="Calibri"/>
                <a:cs typeface="Calibri"/>
              </a:rPr>
              <a:t> </a:t>
            </a:r>
            <a:r>
              <a:rPr dirty="0" sz="1800" spc="-30">
                <a:solidFill>
                  <a:srgbClr val="363636"/>
                </a:solidFill>
                <a:latin typeface="Calibri"/>
                <a:cs typeface="Calibri"/>
              </a:rPr>
              <a:t>Segmentation</a:t>
            </a:r>
            <a:r>
              <a:rPr dirty="0" sz="1800" spc="345">
                <a:solidFill>
                  <a:srgbClr val="363636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2A2A2A"/>
                </a:solidFill>
                <a:latin typeface="Calibri"/>
                <a:cs typeface="Calibri"/>
              </a:rPr>
              <a:t>Benefits.png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050" spc="-10">
                <a:solidFill>
                  <a:srgbClr val="2D2D2D"/>
                </a:solidFill>
                <a:latin typeface="Calibri"/>
                <a:cs typeface="Calibri"/>
              </a:rPr>
              <a:t>Source:</a:t>
            </a:r>
            <a:r>
              <a:rPr dirty="0" sz="2050" spc="-70">
                <a:solidFill>
                  <a:srgbClr val="2D2D2D"/>
                </a:solidFill>
                <a:latin typeface="Calibri"/>
                <a:cs typeface="Calibri"/>
              </a:rPr>
              <a:t> </a:t>
            </a:r>
            <a:r>
              <a:rPr dirty="0" sz="2050" spc="-10">
                <a:solidFill>
                  <a:srgbClr val="4D48DA"/>
                </a:solidFill>
                <a:latin typeface="Calibri"/>
                <a:cs typeface="Calibri"/>
                <a:hlinkClick r:id="rId7"/>
              </a:rPr>
              <a:t>www.fundmarketers.com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44572" y="7209746"/>
            <a:ext cx="7068820" cy="845819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dirty="0" sz="1800" spc="-35">
                <a:solidFill>
                  <a:srgbClr val="2A2A2A"/>
                </a:solidFill>
                <a:latin typeface="Calibri"/>
                <a:cs typeface="Calibri"/>
              </a:rPr>
              <a:t>https://gIobaIdata3ó5.com/wp-content/upIoads/2023/03/Front-Page-</a:t>
            </a:r>
            <a:r>
              <a:rPr dirty="0" sz="1800" spc="-10">
                <a:solidFill>
                  <a:srgbClr val="2A2A2A"/>
                </a:solidFill>
                <a:latin typeface="Calibri"/>
                <a:cs typeface="Calibri"/>
              </a:rPr>
              <a:t>2.webp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dirty="0" sz="2200" spc="-80">
                <a:solidFill>
                  <a:srgbClr val="2A2A2A"/>
                </a:solidFill>
                <a:latin typeface="Calibri"/>
                <a:cs typeface="Calibri"/>
              </a:rPr>
              <a:t>Source:</a:t>
            </a:r>
            <a:r>
              <a:rPr dirty="0" sz="2200" spc="-15">
                <a:solidFill>
                  <a:srgbClr val="2A2A2A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A89EF7"/>
                </a:solidFill>
                <a:latin typeface="Calibri"/>
                <a:cs typeface="Calibri"/>
              </a:rPr>
              <a:t>globaldata365.com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2026-06-11T10:17:10Z</dcterms:created>
  <dcterms:modified xsi:type="dcterms:W3CDTF">2026-06-11T10:17:10Z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StructuredOutput v10.0.19910.1</vt:lpwstr>
  </property>
  <property fmtid="{D5CDD505-2E9C-101B-9397-08002B2CF9AE}" pid="3" name="Created">
    <vt:filetime>2026-06-11T00:00:00Z</vt:filetime>
  </property>
  <property fmtid="{D5CDD505-2E9C-101B-9397-08002B2CF9AE}" pid="4" name="LastSaved">
    <vt:filetime>2026-06-11T00:00:00Z</vt:filetime>
  </property>
</Properties>
</file>